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8046258960d4dbf" /><Relationship Type="http://schemas.openxmlformats.org/officeDocument/2006/relationships/extended-properties" Target="/docProps/app.xml" Id="Rcb2606174c6b40ee" /><Relationship Type="http://schemas.openxmlformats.org/officeDocument/2006/relationships/officeDocument" Target="/ppt/presentation.xml" Id="Rc70efdc8cc1f458a" /></Relationships>
</file>

<file path=ppt/presentation.xml><?xml version="1.0" encoding="utf-8"?>
<p:presentation xmlns:p="http://schemas.openxmlformats.org/presentationml/2006/main">
  <p:sldMasterIdLst>
    <p:sldMasterId xmlns:r="http://schemas.openxmlformats.org/officeDocument/2006/relationships" id="2147483648" r:id="Rd2b5b1f84a1b426e"/>
  </p:sldMasterIdLst>
  <p:notesMasterIdLst>
    <p:notesMasterId xmlns:r="http://schemas.openxmlformats.org/officeDocument/2006/relationships" r:id="R116e13167302401d"/>
  </p:notesMasterIdLst>
  <p:sldIdLst>
    <p:sldId xmlns:r="http://schemas.openxmlformats.org/officeDocument/2006/relationships" id="256" r:id="Rca0f6968985e42ec"/>
    <p:sldId xmlns:r="http://schemas.openxmlformats.org/officeDocument/2006/relationships" id="257" r:id="R067e390a2c3d4506"/>
    <p:sldId xmlns:r="http://schemas.openxmlformats.org/officeDocument/2006/relationships" id="258" r:id="Rf7444e26969e4319"/>
    <p:sldId xmlns:r="http://schemas.openxmlformats.org/officeDocument/2006/relationships" id="259" r:id="Rca073f8773d647a8"/>
    <p:sldId xmlns:r="http://schemas.openxmlformats.org/officeDocument/2006/relationships" id="260" r:id="R33680f5b6b344b4d"/>
    <p:sldId xmlns:r="http://schemas.openxmlformats.org/officeDocument/2006/relationships" id="261" r:id="Red0387d297de494d"/>
    <p:sldId xmlns:r="http://schemas.openxmlformats.org/officeDocument/2006/relationships" id="262" r:id="R0d78c5730654428e"/>
    <p:sldId xmlns:r="http://schemas.openxmlformats.org/officeDocument/2006/relationships" id="263" r:id="Rafc827f7457a43ec"/>
    <p:sldId xmlns:r="http://schemas.openxmlformats.org/officeDocument/2006/relationships" id="264" r:id="Rab49886f17144246"/>
    <p:sldId xmlns:r="http://schemas.openxmlformats.org/officeDocument/2006/relationships" id="265" r:id="Rb5ac2d31e7a44090"/>
    <p:sldId xmlns:r="http://schemas.openxmlformats.org/officeDocument/2006/relationships" id="266" r:id="R9f3a148fc48241f7"/>
    <p:sldId xmlns:r="http://schemas.openxmlformats.org/officeDocument/2006/relationships" id="267" r:id="Rb23537f592ec4bf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1f92f6098464220" /><Relationship Type="http://schemas.openxmlformats.org/officeDocument/2006/relationships/slideMaster" Target="/ppt/slideMasters/slideMaster1.xml" Id="Rd2b5b1f84a1b426e" /><Relationship Type="http://schemas.openxmlformats.org/officeDocument/2006/relationships/notesMaster" Target="/ppt/notesMasters/notesMaster1.xml" Id="R116e13167302401d" /><Relationship Type="http://schemas.openxmlformats.org/officeDocument/2006/relationships/presProps" Target="/ppt/presProps.xml" Id="Rda8ee8786a3249ec" /><Relationship Type="http://schemas.openxmlformats.org/officeDocument/2006/relationships/tableStyles" Target="/ppt/tableStyles.xml" Id="R81cc025a0528427b" /><Relationship Type="http://schemas.openxmlformats.org/officeDocument/2006/relationships/slide" Target="/ppt/slides/slide1.xml" Id="Rca0f6968985e42ec" /><Relationship Type="http://schemas.openxmlformats.org/officeDocument/2006/relationships/slide" Target="/ppt/slides/slide2.xml" Id="R067e390a2c3d4506" /><Relationship Type="http://schemas.openxmlformats.org/officeDocument/2006/relationships/slide" Target="/ppt/slides/slide3.xml" Id="Rf7444e26969e4319" /><Relationship Type="http://schemas.openxmlformats.org/officeDocument/2006/relationships/slide" Target="/ppt/slides/slide4.xml" Id="Rca073f8773d647a8" /><Relationship Type="http://schemas.openxmlformats.org/officeDocument/2006/relationships/slide" Target="/ppt/slides/slide5.xml" Id="R33680f5b6b344b4d" /><Relationship Type="http://schemas.openxmlformats.org/officeDocument/2006/relationships/slide" Target="/ppt/slides/slide6.xml" Id="Red0387d297de494d" /><Relationship Type="http://schemas.openxmlformats.org/officeDocument/2006/relationships/slide" Target="/ppt/slides/slide7.xml" Id="R0d78c5730654428e" /><Relationship Type="http://schemas.openxmlformats.org/officeDocument/2006/relationships/slide" Target="/ppt/slides/slide8.xml" Id="Rafc827f7457a43ec" /><Relationship Type="http://schemas.openxmlformats.org/officeDocument/2006/relationships/slide" Target="/ppt/slides/slide9.xml" Id="Rab49886f17144246" /><Relationship Type="http://schemas.openxmlformats.org/officeDocument/2006/relationships/slide" Target="/ppt/slides/slide10.xml" Id="Rb5ac2d31e7a44090" /><Relationship Type="http://schemas.openxmlformats.org/officeDocument/2006/relationships/slide" Target="/ppt/slides/slide11.xml" Id="R9f3a148fc48241f7" /><Relationship Type="http://schemas.openxmlformats.org/officeDocument/2006/relationships/slide" Target="/ppt/slides/slide12.xml" Id="Rb23537f592ec4bf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8674fc617c40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b8cd4755bc5420d" /><Relationship Type="http://schemas.openxmlformats.org/officeDocument/2006/relationships/notesMaster" Target="/ppt/notesMasters/notesMaster1.xml" Id="R34c7d5beb60649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240f6f1a7a2f4ccf" /><Relationship Type="http://schemas.openxmlformats.org/officeDocument/2006/relationships/notesMaster" Target="/ppt/notesMasters/notesMaster1.xml" Id="R28ff804276464a86" /></Relationships>
</file>

<file path=ppt/notesSlides/_rels/notesSlide3.xml.rels>&#65279;<?xml version="1.0" encoding="utf-8"?><Relationships xmlns="http://schemas.openxmlformats.org/package/2006/relationships"><Relationship Type="http://schemas.openxmlformats.org/officeDocument/2006/relationships/slide" Target="/ppt/slides/slide3.xml" Id="R10a6cc3d05a541eb" /><Relationship Type="http://schemas.openxmlformats.org/officeDocument/2006/relationships/notesMaster" Target="/ppt/notesMasters/notesMaster1.xml" Id="Rac01bbabd2c544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b425bb865ada4471" /><Relationship Type="http://schemas.openxmlformats.org/officeDocument/2006/relationships/notesMaster" Target="/ppt/notesMasters/notesMaster1.xml" Id="Reea2eb418c9742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a1ae2c50b36e4608" /><Relationship Type="http://schemas.openxmlformats.org/officeDocument/2006/relationships/notesMaster" Target="/ppt/notesMasters/notesMaster1.xml" Id="R438ed12d6daa499d" /></Relationships>
</file>

<file path=ppt/notesSlides/_rels/notesSlide6.xml.rels>&#65279;<?xml version="1.0" encoding="utf-8"?><Relationships xmlns="http://schemas.openxmlformats.org/package/2006/relationships"><Relationship Type="http://schemas.openxmlformats.org/officeDocument/2006/relationships/slide" Target="/ppt/slides/slide6.xml" Id="R4a66ea371afe4e6c" /><Relationship Type="http://schemas.openxmlformats.org/officeDocument/2006/relationships/notesMaster" Target="/ppt/notesMasters/notesMaster1.xml" Id="Rf28691cabe534628" /></Relationships>
</file>

<file path=ppt/notesSlides/_rels/notesSlide7.xml.rels>&#65279;<?xml version="1.0" encoding="utf-8"?><Relationships xmlns="http://schemas.openxmlformats.org/package/2006/relationships"><Relationship Type="http://schemas.openxmlformats.org/officeDocument/2006/relationships/slide" Target="/ppt/slides/slide7.xml" Id="R28ca726f53824158" /><Relationship Type="http://schemas.openxmlformats.org/officeDocument/2006/relationships/notesMaster" Target="/ppt/notesMasters/notesMaster1.xml" Id="Rf38526f8ea0b45c3" /></Relationships>
</file>

<file path=ppt/notesSlides/_rels/notesSlide8.xml.rels>&#65279;<?xml version="1.0" encoding="utf-8"?><Relationships xmlns="http://schemas.openxmlformats.org/package/2006/relationships"><Relationship Type="http://schemas.openxmlformats.org/officeDocument/2006/relationships/slide" Target="/ppt/slides/slide8.xml" Id="Ra36a450b67854a13" /><Relationship Type="http://schemas.openxmlformats.org/officeDocument/2006/relationships/notesMaster" Target="/ppt/notesMasters/notesMaster1.xml" Id="R6b04376e9c004b1f" /></Relationships>
</file>

<file path=ppt/notesSlides/_rels/notesSlide9.xml.rels>&#65279;<?xml version="1.0" encoding="utf-8"?><Relationships xmlns="http://schemas.openxmlformats.org/package/2006/relationships"><Relationship Type="http://schemas.openxmlformats.org/officeDocument/2006/relationships/slide" Target="/ppt/slides/slide9.xml" Id="Rb3863d3d908544f4" /><Relationship Type="http://schemas.openxmlformats.org/officeDocument/2006/relationships/notesMaster" Target="/ppt/notesMasters/notesMaster1.xml" Id="Rb3557de3f1e14d4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8e6f5d75f8a4f02" /><Relationship Type="http://schemas.openxmlformats.org/officeDocument/2006/relationships/notesMaster" Target="/ppt/notesMasters/notesMaster1.xml" Id="Rb2474948e1654c2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11d1bbc50084a1d" /><Relationship Type="http://schemas.openxmlformats.org/officeDocument/2006/relationships/notesMaster" Target="/ppt/notesMasters/notesMaster1.xml" Id="R3379d248044042f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9e4ccbeef514f52" /><Relationship Type="http://schemas.openxmlformats.org/officeDocument/2006/relationships/notesMaster" Target="/ppt/notesMasters/notesMaster1.xml" Id="R361c3b4338f948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Namaste judges. Ek report mein R.K. Sharma likha hai, call record mein ek phone number hai, aur transaction file mein ek account. Investigator ko samajhna hai ki yeh records kaise connected hain. Network Intel in records ko source-linked graph mein jodta hai, taaki har lead ka evidence inspect ho sake. Aaj hum synthetic Operation Trinetra dikhayenge. Final conclusion investigator ka rahega.</a:t>
            </a:r>
          </a:p>
          <a:p xmlns:a="http://schemas.openxmlformats.org/drawingml/2006/main">
            <a:r>
              <a:t/>
            </a:r>
          </a:p>
          <a:p xmlns:a="http://schemas.openxmlformats.org/drawingml/2006/main">
            <a:r>
              <a:t>Sources / verification:</a:t>
            </a:r>
          </a:p>
          <a:p xmlns:a="http://schemas.openxmlformats.org/drawingml/2006/main">
            <a:r>
              <a:t>Repository README.md; current frontend; live production deployment verified in this task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Hum jis pain point par focus kar rahe hain woh fragmented records hain. Report, CDR aur transactions alag hone se identity aur relationship ko manually cross-check karna padta hai. Hamara user authorized investigator ya analyst hai. Existing brief SIH26189 se map hota hai, lekin official PS wording aur college format abhi SPOC se confirm karna hai. Hum agency data integration ka claim nahi kar rahe.</a:t>
            </a:r>
          </a:p>
          <a:p xmlns:a="http://schemas.openxmlformats.org/drawingml/2006/main">
            <a:r>
              <a:t/>
            </a:r>
          </a:p>
          <a:p xmlns:a="http://schemas.openxmlformats.org/drawingml/2006/main">
            <a:r>
              <a:t>Sources / verification:</a:t>
            </a:r>
          </a:p>
          <a:p xmlns:a="http://schemas.openxmlformats.org/drawingml/2006/main">
            <a:r>
              <a:t>README-PREVIOUS.md; SIH-SCOPE-FREEZE.md. PS working reference only: https://sihone.pages.dev/ps/26189 (third-party mirror, official text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Yeh hamare prototype ka pehle captured run hai, jab product ka naam VEIL tha. Ab naam Network Intel hai. Screen par path backend compute karta hai. Investigator har edge ka evidence khol sakta hai. Identity review reversible hai aur lead review audit trail mein record hota hai. Is integrated workflow ko hum apna contribution keh rahe hain, world-first algorithm nahi.</a:t>
            </a:r>
          </a:p>
          <a:p xmlns:a="http://schemas.openxmlformats.org/drawingml/2006/main">
            <a:r>
              <a:t/>
            </a:r>
          </a:p>
          <a:p xmlns:a="http://schemas.openxmlformats.org/drawingml/2006/main">
            <a:r>
              <a:t>Sources / verification:</a:t>
            </a:r>
          </a:p>
          <a:p xmlns:a="http://schemas.openxmlformats.org/drawingml/2006/main">
            <a:r>
              <a:t>artifacts/first-round/screenshots/03-network-path.png; backend/demo_paths.py; backend/resolution.py; backend/review_store.py.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case mein pichhle saat complete din ka median do outgoing calls per day hai. Event day par replay time tak gyarah calls hain. Configured threshold max of five calls aur three times baseline hai, yani six. Isliye communication signal trigger hota hai. Teen connected transfers pachhattar minutes mein total ek lakh panchanve hazaar ka volume dikhate hain. Yeh unique funds ya money laundering ka proof nahi. Graph context aur exact source evidence ke saath system review lead banata hai.</a:t>
            </a:r>
          </a:p>
          <a:p xmlns:a="http://schemas.openxmlformats.org/drawingml/2006/main">
            <a:r>
              <a:t/>
            </a:r>
          </a:p>
          <a:p xmlns:a="http://schemas.openxmlformats.org/drawingml/2006/main">
            <a:r>
              <a:t>Sources / verification:</a:t>
            </a:r>
          </a:p>
          <a:p xmlns:a="http://schemas.openxmlformats.org/drawingml/2006/main">
            <a:r>
              <a:t>backend/lead_engine.py Policy and run_engine; DEMO-RUNBOOK.md; tests/test_golden_flow.py. All numbers synthetic.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Frontend React, TypeScript aur Cytoscape par hai. FastAPI typed requests serve karta hai. Structured identifiers deterministic parsers se aate hain. spaCy NER optional local model ke available hone par use hota hai, fallback bhi hai. NetworkX bounded shortest paths compute karta hai. Temporal rules main lead engine hain. Isolation Forest secondary anomaly triage hai. Local SQLite investigator decisions rakhta hai. Hum LLM, GNN ya universal Hindi OCR implemented hone ka claim nahi karte.</a:t>
            </a:r>
          </a:p>
          <a:p xmlns:a="http://schemas.openxmlformats.org/drawingml/2006/main">
            <a:r>
              <a:t/>
            </a:r>
          </a:p>
          <a:p xmlns:a="http://schemas.openxmlformats.org/drawingml/2006/main">
            <a:r>
              <a:t>Sources / verification:</a:t>
            </a:r>
          </a:p>
          <a:p xmlns:a="http://schemas.openxmlformats.org/drawingml/2006/main">
            <a:r>
              <a:t>frontend/package.json; backend/intake_parser.py; backend/ner_service.py; backend/demo_paths.py; backend/lead_engine.py; backend/behavioral_profiler.py; api/index.py.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 live demo kholte hain. Pehle source files dikhayenge. R.K. Sharma match ko exact phone aur vehicle evidence se review karenge. Phir Rahul se Vikram ka path compute karke Lead 17 kholenge. Transfer signal se E-TX-01 ka exact source row dikhayenge. Last mein Needs more evidence review aur audit trail dikhayenge. Har screen par sirf ek proof point. Demo ka separate target do minute tees second hai; yeh rehearsal target hai, measured claim nahi.</a:t>
            </a:r>
          </a:p>
          <a:p xmlns:a="http://schemas.openxmlformats.org/drawingml/2006/main">
            <a:r>
              <a:t/>
            </a:r>
          </a:p>
          <a:p xmlns:a="http://schemas.openxmlformats.org/drawingml/2006/main">
            <a:r>
              <a:t>Sources / verification:</a:t>
            </a:r>
          </a:p>
          <a:p xmlns:a="http://schemas.openxmlformats.org/drawingml/2006/main">
            <a:r>
              <a:t>DEMO-RUNBOOK.md; frontend/src/components/NetworkWorkspace.tsx; local route /#/app.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Aaj tests folder ke targeted backend suite mein ek sau ek tests pass hue, do dependency warnings ke saath. Yeh correctness checks hain, real-world accuracy nahi. Public demo deploy hai aur core workspace bina sign-in khulta hai. Local review SQLite mein persist hota hai, lekin current Vercel temporary storage durable nahi hai. Official PS mein influential entities ki requirement confirm hui toh dedicated ranking abhi gap hai. Agency validation, multi-user security aur scale benchmark future work hain.</a:t>
            </a:r>
          </a:p>
          <a:p xmlns:a="http://schemas.openxmlformats.org/drawingml/2006/main">
            <a:r>
              <a:t/>
            </a:r>
          </a:p>
          <a:p xmlns:a="http://schemas.openxmlformats.org/drawingml/2006/main">
            <a:r>
              <a:t>Sources / verification:</a:t>
            </a:r>
          </a:p>
          <a:p xmlns:a="http://schemas.openxmlformats.org/drawingml/2006/main">
            <a:r>
              <a:t>Fresh command: .venv/Scripts/python.exe -m pytest tests -q =&gt; 101 passed, 2 warnings, 22.99s. Repository inspection 2026-09-06. api/index.py uses /tmp/veil-state.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Selection ke baad hamara next milestone supervised pilot readiness hai. Pehle controlled evaluation set par false merges, missed entities aur source traceability measure karenge. Hosted state ko durable storage mein shift karenge. Domain mentor ke saath task timing aur usability validate karenge. Agar official PS require karta hai toh explainable centrality ranking ko benchmark karenge. Aaj hum working vertical slice, evidence traceability aur clear hardening plan dikha rahe hain. Hamara request internal selection aur domain mentorship hai.</a:t>
            </a:r>
          </a:p>
          <a:p xmlns:a="http://schemas.openxmlformats.org/drawingml/2006/main">
            <a:r>
              <a:t/>
            </a:r>
          </a:p>
          <a:p xmlns:a="http://schemas.openxmlformats.org/drawingml/2006/main">
            <a:r>
              <a:t>Sources / verification:</a:t>
            </a:r>
          </a:p>
          <a:p xmlns:a="http://schemas.openxmlformats.org/drawingml/2006/main">
            <a:r>
              <a:t>Proposed roadmap, not completed work. SIH-SCOPE-FREEZE.md; verified implementation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Agar judge provenance pooche toh yeh backup dikhana hai. Yeh pehle captured synthetic run hai. E-TX-01 ka filename, row, timestamp aur raw excerpt inspect hota hai. Source traceability aur source ki factual correctness alag cheezein hain. Hum unverified source ko verified fact nahi bana rahe.</a:t>
            </a:r>
          </a:p>
          <a:p xmlns:a="http://schemas.openxmlformats.org/drawingml/2006/main">
            <a:r>
              <a:t/>
            </a:r>
          </a:p>
          <a:p xmlns:a="http://schemas.openxmlformats.org/drawingml/2006/main">
            <a:r>
              <a:t>Sources / verification:</a:t>
            </a:r>
          </a:p>
          <a:p xmlns:a="http://schemas.openxmlformats.org/drawingml/2006/main">
            <a:r>
              <a:t>artifacts/first-round/screenshots/05-evidence-provenance.png; backend/demo_repository.py.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 mirror mein key individuals identify karne ka requirement mila, official version confirm karna baaki hai. Active backend mein dedicated centrality ranking verify nahi hui. Existing path aur clustering coefficient influential-person detector nahi hain. Agle iteration mein degree aur betweenness ko explainable ranking ke roop mein evaluate kar sakte hain. Ranking source coverage se affected hogi aur leadership ya guilt ka label nahi hogi.</a:t>
            </a:r>
          </a:p>
          <a:p xmlns:a="http://schemas.openxmlformats.org/drawingml/2006/main">
            <a:r>
              <a:t/>
            </a:r>
          </a:p>
          <a:p xmlns:a="http://schemas.openxmlformats.org/drawingml/2006/main">
            <a:r>
              <a:t>Sources / verification:</a:t>
            </a:r>
          </a:p>
          <a:p xmlns:a="http://schemas.openxmlformats.org/drawingml/2006/main">
            <a:r>
              <a:t>README-PREVIOUS.md; backend/demo_paths.py; backend/behavioral_profiler.py; repository search for degree, centrality, pagerank, betweenness. PS mirror: https://sihone.pages.dev/ps/26189; official confirmation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Evaluation mein positive planted case ke saath benign controls bhi honge. Same naam aur alag phone ko false merge nahi karna chahiye. Missing source par signal suppress ya clearly flag hona chahiye. Edge remove karne par computed path badalna chahiye. Held-out records par precision recall report karenge. Task timing manual baseline aur tool-assisted flow ke saath same task par compare karenge. Targets ko achieved results nahi bolenge.</a:t>
            </a:r>
          </a:p>
          <a:p xmlns:a="http://schemas.openxmlformats.org/drawingml/2006/main">
            <a:r>
              <a:t/>
            </a:r>
          </a:p>
          <a:p xmlns:a="http://schemas.openxmlformats.org/drawingml/2006/main">
            <a:r>
              <a:t>Sources / verification:</a:t>
            </a:r>
          </a:p>
          <a:p xmlns:a="http://schemas.openxmlformats.org/drawingml/2006/main">
            <a:r>
              <a:t>tests/test_resolution.py; tests/test_golden_flow.py; backend/lead_engine.py. Proposed additional evaluation, not measured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Hardcoded? Demo inputs fixed hain, lekin engine rules aur graph se result calculate karta hai. AI kahan? Optional spaCy extraction aur secondary Isolation Forest; main temporal lead deterministic hai. Deploy ready? Public prototype live hai, production storage aur security incomplete hain. Impact? Reduced cross-referencing expected benefit hai; measured saving abhi nahi. Agar answer unknown ho, verification step batao aur number invent mat karo.</a:t>
            </a:r>
          </a:p>
          <a:p xmlns:a="http://schemas.openxmlformats.org/drawingml/2006/main">
            <a:r>
              <a:t/>
            </a:r>
          </a:p>
          <a:p xmlns:a="http://schemas.openxmlformats.org/drawingml/2006/main">
            <a:r>
              <a:t>Sources / verification:</a:t>
            </a:r>
          </a:p>
          <a:p xmlns:a="http://schemas.openxmlformats.org/drawingml/2006/main">
            <a:r>
              <a:t>backend/lead_engine.py; backend/ner_service.py; backend/behavioral_profiler.py; api/index.py.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e13e3a005064c4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a2c35af9741491d" /><Relationship Type="http://schemas.openxmlformats.org/officeDocument/2006/relationships/slideLayout" Target="/ppt/slideLayouts/slideLayout1.xml" Id="R43134caa3ed344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134caa3ed344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79c0d57f4f34b0b" /><Relationship Type="http://schemas.openxmlformats.org/officeDocument/2006/relationships/image" Target="/ppt/media/image.png" Id="R7a423cdfe4d24811" /><Relationship Type="http://schemas.openxmlformats.org/officeDocument/2006/relationships/notesSlide" Target="/ppt/notesSlides/notesSlide1.xml" Id="Ra4282cfa13a4434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445a549fd264a04" /><Relationship Type="http://schemas.openxmlformats.org/officeDocument/2006/relationships/notesSlide" Target="/ppt/notesSlides/notesSlide2.xml" Id="R0411d0904ac043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bd5394aa33f474c" /><Relationship Type="http://schemas.openxmlformats.org/officeDocument/2006/relationships/image" Target="/ppt/media/image2.png" Id="Rc8651b64e2e24102" /><Relationship Type="http://schemas.openxmlformats.org/officeDocument/2006/relationships/notesSlide" Target="/ppt/notesSlides/notesSlide3.xml" Id="R305c3e5a2812411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aa6aafa5fab4854" /><Relationship Type="http://schemas.openxmlformats.org/officeDocument/2006/relationships/chart" Target="/ppt/slides/charts/chart1.xml" Id="Rf9580cd839ac4c3e" /><Relationship Type="http://schemas.openxmlformats.org/officeDocument/2006/relationships/notesSlide" Target="/ppt/notesSlides/notesSlide4.xml" Id="R0887883bff0541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cf3c844366c4173" /><Relationship Type="http://schemas.openxmlformats.org/officeDocument/2006/relationships/notesSlide" Target="/ppt/notesSlides/notesSlide5.xml" Id="R2e21b938e32c4c2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0c66213e0dd4dbf" /><Relationship Type="http://schemas.openxmlformats.org/officeDocument/2006/relationships/notesSlide" Target="/ppt/notesSlides/notesSlide6.xml" Id="R0acbfe8d442746c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45b176a04f4488d" /><Relationship Type="http://schemas.openxmlformats.org/officeDocument/2006/relationships/notesSlide" Target="/ppt/notesSlides/notesSlide7.xml" Id="Rfda0eb9c1b2248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83b57ab24684840" /><Relationship Type="http://schemas.openxmlformats.org/officeDocument/2006/relationships/notesSlide" Target="/ppt/notesSlides/notesSlide8.xml" Id="R302a909cba594ed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677c564fbb54bc4" /><Relationship Type="http://schemas.openxmlformats.org/officeDocument/2006/relationships/image" Target="/ppt/media/image3.png" Id="R67b29fc4d03e4be9" /><Relationship Type="http://schemas.openxmlformats.org/officeDocument/2006/relationships/notesSlide" Target="/ppt/notesSlides/notesSlide9.xml" Id="R26ab7fae556e4d8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b608a701a124f42" /><Relationship Type="http://schemas.openxmlformats.org/officeDocument/2006/relationships/notesSlide" Target="/ppt/notesSlides/notesSlide10.xml" Id="R5fae1ddc25be481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2252f6659884eab" /><Relationship Type="http://schemas.openxmlformats.org/officeDocument/2006/relationships/notesSlide" Target="/ppt/notesSlides/notesSlide11.xml" Id="R4e3a5848f1004e1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8ce117254624a8c" /><Relationship Type="http://schemas.openxmlformats.org/officeDocument/2006/relationships/notesSlide" Target="/ppt/notesSlides/notesSlide12.xml" Id="R7d82cc2a72e94786" /></Relationships>
</file>

<file path=ppt/slides/charts/chart1.xml><?xml version="1.0" encoding="utf-8"?>
<c:chartSpace xmlns:c="http://schemas.openxmlformats.org/drawingml/2006/chart">
  <c:lang val="en-US"/>
  <c:chart>
    <c:plotArea>
      <c:barChart>
        <c:barDir val="col"/>
        <c:grouping val="clustered"/>
        <c:varyColors val="0"/>
        <c:ser>
          <c:idx val="0"/>
          <c:order val="0"/>
          <c:tx>
            <c:v>Outgoing calls</c:v>
          </c:tx>
          <c:spPr>
            <a:solidFill xmlns:a="http://schemas.openxmlformats.org/drawingml/2006/main">
              <a:srgbClr val="66E0EA"/>
            </a:solidFill>
          </c:spPr>
          <c:cat>
            <c:strLit>
              <c:ptCount val="2"/>
              <c:pt idx="0">
                <c:v>7 din ka median</c:v>
              </c:pt>
              <c:pt idx="1">
                <c:v>Event day*</c:v>
              </c:pt>
            </c:strLit>
          </c:cat>
          <c:val>
            <c:numLit>
              <c:formatCode>General</c:formatCode>
              <c:ptCount val="2"/>
              <c:pt idx="0">
                <c:v>2</c:v>
              </c:pt>
              <c:pt idx="1">
                <c:v>11</c:v>
              </c:pt>
            </c:numLit>
          </c:val>
        </c:ser>
        <c:dLbls>
          <c:txPr>
            <a:bodyPr xmlns:a="http://schemas.openxmlformats.org/drawingml/2006/main" anchorCtr="1"/>
            <a:lstStyle xmlns:a="http://schemas.openxmlformats.org/drawingml/2006/main"/>
            <a:p xmlns:a="http://schemas.openxmlformats.org/drawingml/2006/main">
              <a:pPr>
                <a:defRPr sz="2100" b="1">
                  <a:solidFill>
                    <a:srgbClr val="F3F7FA"/>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476071"/>
            </a:solidFill>
          </a:ln>
        </c:spPr>
        <c:txPr>
          <a:bodyPr xmlns:a="http://schemas.openxmlformats.org/drawingml/2006/main" anchorCtr="1"/>
          <a:lstStyle xmlns:a="http://schemas.openxmlformats.org/drawingml/2006/main"/>
          <a:p xmlns:a="http://schemas.openxmlformats.org/drawingml/2006/main">
            <a:pPr>
              <a:defRPr sz="1725">
                <a:solidFill>
                  <a:srgbClr val="B2C2D0"/>
                </a:solidFill>
                <a:latin typeface="Arial"/>
                <a:ea typeface="Arial"/>
                <a:cs typeface="Arial"/>
              </a:defRPr>
            </a:pPr>
          </a:p>
        </c:txPr>
        <c:crossAx val="48672768"/>
      </c:catAx>
      <c:valAx>
        <c:axId val="48672768"/>
        <c:scaling>
          <c:orientation val="minMax"/>
          <c:max val="12"/>
          <c:min val="0"/>
        </c:scaling>
        <c:delete val="0"/>
        <c:axPos val="l"/>
        <c:majorGridlines>
          <c:spPr>
            <a:ln xmlns:a="http://schemas.openxmlformats.org/drawingml/2006/main" w="9525">
              <a:solidFill>
                <a:srgbClr val="243847"/>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B2C2D0"/>
                </a:solidFill>
                <a:latin typeface="Arial"/>
                <a:ea typeface="Arial"/>
                <a:cs typeface="Arial"/>
              </a:defRPr>
            </a:pPr>
          </a:p>
        </c:txPr>
        <c:crossAx val="48650112"/>
        <c:crossBetween val="between"/>
        <c:majorUnit val="3"/>
      </c:valAx>
      <c:spPr>
        <a:solidFill xmlns:a="http://schemas.openxmlformats.org/drawingml/2006/main">
          <a:srgbClr val="09121D"/>
        </a:solidFill>
      </c:spPr>
    </c:plotArea>
    <c:plotVisOnly val="1"/>
  </c:chart>
  <c:spPr>
    <a:solidFill xmlns:a="http://schemas.openxmlformats.org/drawingml/2006/main">
      <a:srgbClr val="09121D"/>
    </a:solidFill>
  </c:spPr>
</c:chartSpace>
</file>

<file path=ppt/slides/slide1.xml><?xml version="1.0" encoding="utf-8"?>
<p:sld xmlns:p="http://schemas.openxmlformats.org/presentationml/2006/main">
  <p:cSld>
    <p:bg>
      <p:bgPr>
        <a:solidFill xmlns:a="http://schemas.openxmlformats.org/drawingml/2006/main">
          <a:srgbClr val="09121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7C38090-3A79-488E-8F0C-CCE3DC2CA7FD}"/>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7FA"/>
                </a:solidFill>
                <a:latin typeface="Arial"/>
                <a:ea typeface="Arial"/>
                <a:cs typeface="Arial"/>
              </a:defRPr>
            </a:pPr>
            <a:r>
              <a:rPr sz="3300" b="1">
                <a:solidFill>
                  <a:srgbClr val="F3F7FA"/>
                </a:solidFill>
                <a:latin typeface="Arial"/>
                <a:ea typeface="Arial"/>
                <a:cs typeface="Arial"/>
              </a:rPr>
              <a:t>Network Intel</a:t>
            </a:r>
          </a:p>
        </p:txBody>
      </p:sp>
      <p:sp>
        <p:nvSpPr>
          <p:cNvPr id="2" name="">
            <a:extLst xmlns:a="http://schemas.openxmlformats.org/drawingml/2006/main">
              <a:ext uri="{FF2B5EF4-FFF2-40B4-BE49-F238E27FC236}">
                <a16:creationId xmlns:a16="http://schemas.microsoft.com/office/drawing/2014/main" id="{9627824D-AA13-4466-B475-9E0D1C80EB84}"/>
              </a:ext>
            </a:extLst>
          </p:cNvPr>
          <p:cNvSpPr>
            <a:spLocks xmlns:a="http://schemas.openxmlformats.org/drawingml/2006/main" noGrp="1"/>
          </p:cNvSpPr>
          <p:nvPr/>
        </p:nvSpPr>
        <p:spPr>
          <a:xfrm xmlns:a="http://schemas.openxmlformats.org/drawingml/2006/main">
            <a:off x="11049000" y="63722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2C2D0"/>
                </a:solidFill>
                <a:latin typeface="Arial"/>
                <a:ea typeface="Arial"/>
                <a:cs typeface="Arial"/>
              </a:defRPr>
            </a:pPr>
            <a:r>
              <a:rPr sz="1200" b="0">
                <a:solidFill>
                  <a:srgbClr val="B2C2D0"/>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E1D5026F-E88A-4563-A3C7-18954AAC263E}"/>
              </a:ext>
            </a:extLst>
          </p:cNvPr>
          <p:cNvSpPr>
            <a:spLocks xmlns:a="http://schemas.openxmlformats.org/drawingml/2006/main" noGrp="1"/>
          </p:cNvSpPr>
          <p:nvPr/>
        </p:nvSpPr>
        <p:spPr>
          <a:xfrm xmlns:a="http://schemas.openxmlformats.org/drawingml/2006/main">
            <a:off x="609600" y="2047875"/>
            <a:ext cx="8382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1">
                <a:solidFill>
                  <a:srgbClr val="66E0EA"/>
                </a:solidFill>
                <a:latin typeface="Arial"/>
                <a:ea typeface="Arial"/>
                <a:cs typeface="Arial"/>
              </a:defRPr>
            </a:pPr>
            <a:r>
              <a:rPr sz="4125" b="1">
                <a:solidFill>
                  <a:srgbClr val="66E0EA"/>
                </a:solidFill>
                <a:latin typeface="Arial"/>
                <a:ea typeface="Arial"/>
                <a:cs typeface="Arial"/>
              </a:rPr>
              <a:t>Records ke beech connection.</a:t>
            </a:r>
          </a:p>
          <a:p xmlns:a="http://schemas.openxmlformats.org/drawingml/2006/main">
            <a:pPr>
              <a:defRPr sz="4125" b="1">
                <a:solidFill>
                  <a:srgbClr val="66E0EA"/>
                </a:solidFill>
                <a:latin typeface="Arial"/>
                <a:ea typeface="Arial"/>
                <a:cs typeface="Arial"/>
              </a:defRPr>
            </a:pPr>
            <a:r>
              <a:rPr sz="4125" b="1">
                <a:solidFill>
                  <a:srgbClr val="66E0EA"/>
                </a:solidFill>
                <a:latin typeface="Arial"/>
                <a:ea typeface="Arial"/>
                <a:cs typeface="Arial"/>
              </a:rPr>
              <a:t>Har lead ke saath evidence.</a:t>
            </a:r>
          </a:p>
        </p:txBody>
      </p:sp>
      <p:sp>
        <p:nvSpPr>
          <p:cNvPr id="4" name="">
            <a:extLst xmlns:a="http://schemas.openxmlformats.org/drawingml/2006/main">
              <a:ext uri="{FF2B5EF4-FFF2-40B4-BE49-F238E27FC236}">
                <a16:creationId xmlns:a16="http://schemas.microsoft.com/office/drawing/2014/main" id="{892E72E1-8B3A-48DD-968E-76185C697AC0}"/>
              </a:ext>
            </a:extLst>
          </p:cNvPr>
          <p:cNvSpPr>
            <a:spLocks xmlns:a="http://schemas.openxmlformats.org/drawingml/2006/main" noGrp="1"/>
          </p:cNvSpPr>
          <p:nvPr/>
        </p:nvSpPr>
        <p:spPr>
          <a:xfrm xmlns:a="http://schemas.openxmlformats.org/drawingml/2006/main">
            <a:off x="609600" y="4333875"/>
            <a:ext cx="857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2C2D0"/>
                </a:solidFill>
                <a:latin typeface="Arial"/>
                <a:ea typeface="Arial"/>
                <a:cs typeface="Arial"/>
              </a:defRPr>
            </a:pPr>
            <a:r>
              <a:rPr sz="2025" b="0">
                <a:solidFill>
                  <a:srgbClr val="B2C2D0"/>
                </a:solidFill>
                <a:latin typeface="Arial"/>
                <a:ea typeface="Arial"/>
                <a:cs typeface="Arial"/>
              </a:rPr>
              <a:t>Internal hackathon prototype pitch</a:t>
            </a:r>
          </a:p>
        </p:txBody>
      </p:sp>
      <p:sp>
        <p:nvSpPr>
          <p:cNvPr id="5" name="">
            <a:extLst xmlns:a="http://schemas.openxmlformats.org/drawingml/2006/main">
              <a:ext uri="{FF2B5EF4-FFF2-40B4-BE49-F238E27FC236}">
                <a16:creationId xmlns:a16="http://schemas.microsoft.com/office/drawing/2014/main" id="{22C9FC3D-92B3-43F7-A741-55F8C5456F64}"/>
              </a:ext>
            </a:extLst>
          </p:cNvPr>
          <p:cNvSpPr>
            <a:spLocks xmlns:a="http://schemas.openxmlformats.org/drawingml/2006/main" noGrp="1"/>
          </p:cNvSpPr>
          <p:nvPr/>
        </p:nvSpPr>
        <p:spPr>
          <a:xfrm xmlns:a="http://schemas.openxmlformats.org/drawingml/2006/main">
            <a:off x="609600" y="4905375"/>
            <a:ext cx="857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2C2D0"/>
                </a:solidFill>
                <a:latin typeface="Arial"/>
                <a:ea typeface="Arial"/>
                <a:cs typeface="Arial"/>
              </a:defRPr>
            </a:pPr>
            <a:r>
              <a:rPr sz="1800" b="0">
                <a:solidFill>
                  <a:srgbClr val="B2C2D0"/>
                </a:solidFill>
                <a:latin typeface="Arial"/>
                <a:ea typeface="Arial"/>
                <a:cs typeface="Arial"/>
              </a:rPr>
              <a:t>Synthetic Operation Trinetra</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a423cdfe4d24811"/>
          <a:stretch xmlns:a="http://schemas.openxmlformats.org/drawingml/2006/main"/>
        </p:blipFill>
        <p:spPr>
          <a:xfrm xmlns:a="http://schemas.openxmlformats.org/drawingml/2006/main">
            <a:off x="9525000" y="2238375"/>
            <a:ext cx="1428750" cy="1428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19F430A-9030-49E7-8111-6A988A27C35A}"/>
              </a:ext>
            </a:extLst>
          </p:cNvPr>
          <p:cNvSpPr>
            <a:spLocks xmlns:a="http://schemas.openxmlformats.org/drawingml/2006/main" noGrp="1"/>
          </p:cNvSpPr>
          <p:nvPr/>
        </p:nvSpPr>
        <p:spPr>
          <a:xfrm xmlns:a="http://schemas.openxmlformats.org/drawingml/2006/main">
            <a:off x="609600" y="5876925"/>
            <a:ext cx="952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F3F7FA"/>
                </a:solidFill>
                <a:latin typeface="Arial"/>
                <a:ea typeface="Arial"/>
                <a:cs typeface="Arial"/>
              </a:defRPr>
            </a:pPr>
            <a:r>
              <a:rPr sz="1725" b="0">
                <a:solidFill>
                  <a:srgbClr val="F3F7FA"/>
                </a:solidFill>
                <a:latin typeface="Arial"/>
                <a:ea typeface="Arial"/>
                <a:cs typeface="Arial"/>
              </a:rPr>
              <a:t>veil-network-intel.vercel.app</a:t>
            </a:r>
          </a:p>
        </p:txBody>
      </p:sp>
    </p:spTree>
    <p:extLst>
      <p:ext uri="{BB962C8B-B14F-4D97-AF65-F5344CB8AC3E}">
        <p14:creationId xmlns:p14="http://schemas.microsoft.com/office/powerpoint/2010/main" val="909535295"/>
      </p:ext>
    </p:extLst>
  </p:cSld>
</p:sld>
</file>

<file path=ppt/slides/slide2.xml><?xml version="1.0" encoding="utf-8"?>
<p:sld xmlns:p="http://schemas.openxmlformats.org/presentationml/2006/main">
  <p:cSld>
    <p:bg>
      <p:bgPr>
        <a:solidFill xmlns:a="http://schemas.openxmlformats.org/drawingml/2006/main">
          <a:srgbClr val="09121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03D80A5-51F4-43AC-92A3-5C03225526AB}"/>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7FA"/>
                </a:solidFill>
                <a:latin typeface="Arial"/>
                <a:ea typeface="Arial"/>
                <a:cs typeface="Arial"/>
              </a:defRPr>
            </a:pPr>
            <a:r>
              <a:rPr sz="3300" b="1">
                <a:solidFill>
                  <a:srgbClr val="F3F7FA"/>
                </a:solidFill>
                <a:latin typeface="Arial"/>
                <a:ea typeface="Arial"/>
                <a:cs typeface="Arial"/>
              </a:rPr>
              <a:t>Problem: records alag, investigation connected</a:t>
            </a:r>
          </a:p>
        </p:txBody>
      </p:sp>
      <p:sp>
        <p:nvSpPr>
          <p:cNvPr id="2" name="">
            <a:extLst xmlns:a="http://schemas.openxmlformats.org/drawingml/2006/main">
              <a:ext uri="{FF2B5EF4-FFF2-40B4-BE49-F238E27FC236}">
                <a16:creationId xmlns:a16="http://schemas.microsoft.com/office/drawing/2014/main" id="{E57523FD-A89E-4AB9-899F-6EA447A664C5}"/>
              </a:ext>
            </a:extLst>
          </p:cNvPr>
          <p:cNvSpPr>
            <a:spLocks xmlns:a="http://schemas.openxmlformats.org/drawingml/2006/main" noGrp="1"/>
          </p:cNvSpPr>
          <p:nvPr/>
        </p:nvSpPr>
        <p:spPr>
          <a:xfrm xmlns:a="http://schemas.openxmlformats.org/drawingml/2006/main">
            <a:off x="11049000" y="63722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2C2D0"/>
                </a:solidFill>
                <a:latin typeface="Arial"/>
                <a:ea typeface="Arial"/>
                <a:cs typeface="Arial"/>
              </a:defRPr>
            </a:pPr>
            <a:r>
              <a:rPr sz="1200" b="0">
                <a:solidFill>
                  <a:srgbClr val="B2C2D0"/>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8C73B7B1-44F4-4AFD-8B77-9EC83A59EF03}"/>
              </a:ext>
            </a:extLst>
          </p:cNvPr>
          <p:cNvSpPr>
            <a:spLocks xmlns:a="http://schemas.openxmlformats.org/drawingml/2006/main" noGrp="1"/>
          </p:cNvSpPr>
          <p:nvPr/>
        </p:nvSpPr>
        <p:spPr>
          <a:xfrm xmlns:a="http://schemas.openxmlformats.org/drawingml/2006/main">
            <a:off x="609600" y="180975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66E0EA"/>
                </a:solidFill>
                <a:latin typeface="Arial"/>
                <a:ea typeface="Arial"/>
                <a:cs typeface="Arial"/>
              </a:defRPr>
            </a:pPr>
            <a:r>
              <a:rPr sz="2325" b="1">
                <a:solidFill>
                  <a:srgbClr val="66E0EA"/>
                </a:solidFill>
                <a:latin typeface="Arial"/>
                <a:ea typeface="Arial"/>
                <a:cs typeface="Arial"/>
              </a:rPr>
              <a:t>01  Alag source files</a:t>
            </a:r>
          </a:p>
        </p:txBody>
      </p:sp>
      <p:sp>
        <p:nvSpPr>
          <p:cNvPr id="4" name="">
            <a:extLst xmlns:a="http://schemas.openxmlformats.org/drawingml/2006/main">
              <a:ext uri="{FF2B5EF4-FFF2-40B4-BE49-F238E27FC236}">
                <a16:creationId xmlns:a16="http://schemas.microsoft.com/office/drawing/2014/main" id="{6ACB5C12-7664-4C38-8DDC-5FA8C6287D55}"/>
              </a:ext>
            </a:extLst>
          </p:cNvPr>
          <p:cNvSpPr>
            <a:spLocks xmlns:a="http://schemas.openxmlformats.org/drawingml/2006/main" noGrp="1"/>
          </p:cNvSpPr>
          <p:nvPr/>
        </p:nvSpPr>
        <p:spPr>
          <a:xfrm xmlns:a="http://schemas.openxmlformats.org/drawingml/2006/main">
            <a:off x="609600" y="238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Reports, CDR aur transactions ko</a:t>
            </a:r>
          </a:p>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manual cross-check karna padta hai.</a:t>
            </a:r>
          </a:p>
        </p:txBody>
      </p:sp>
      <p:sp>
        <p:nvSpPr>
          <p:cNvPr id="5" name="">
            <a:extLst xmlns:a="http://schemas.openxmlformats.org/drawingml/2006/main">
              <a:ext uri="{FF2B5EF4-FFF2-40B4-BE49-F238E27FC236}">
                <a16:creationId xmlns:a16="http://schemas.microsoft.com/office/drawing/2014/main" id="{C3B46391-7E83-44CC-9CC3-BBA58E4AE5FF}"/>
              </a:ext>
            </a:extLst>
          </p:cNvPr>
          <p:cNvSpPr>
            <a:spLocks xmlns:a="http://schemas.openxmlformats.org/drawingml/2006/main" noGrp="1"/>
          </p:cNvSpPr>
          <p:nvPr/>
        </p:nvSpPr>
        <p:spPr>
          <a:xfrm xmlns:a="http://schemas.openxmlformats.org/drawingml/2006/main">
            <a:off x="6477000" y="180975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66E0EA"/>
                </a:solidFill>
                <a:latin typeface="Arial"/>
                <a:ea typeface="Arial"/>
                <a:cs typeface="Arial"/>
              </a:defRPr>
            </a:pPr>
            <a:r>
              <a:rPr sz="2325" b="1">
                <a:solidFill>
                  <a:srgbClr val="66E0EA"/>
                </a:solidFill>
                <a:latin typeface="Arial"/>
                <a:ea typeface="Arial"/>
                <a:cs typeface="Arial"/>
              </a:rPr>
              <a:t>02  Uncertain identity</a:t>
            </a:r>
          </a:p>
        </p:txBody>
      </p:sp>
      <p:sp>
        <p:nvSpPr>
          <p:cNvPr id="6" name="">
            <a:extLst xmlns:a="http://schemas.openxmlformats.org/drawingml/2006/main">
              <a:ext uri="{FF2B5EF4-FFF2-40B4-BE49-F238E27FC236}">
                <a16:creationId xmlns:a16="http://schemas.microsoft.com/office/drawing/2014/main" id="{0982FE7E-DABD-46C9-A225-FA122F0807F5}"/>
              </a:ext>
            </a:extLst>
          </p:cNvPr>
          <p:cNvSpPr>
            <a:spLocks xmlns:a="http://schemas.openxmlformats.org/drawingml/2006/main" noGrp="1"/>
          </p:cNvSpPr>
          <p:nvPr/>
        </p:nvSpPr>
        <p:spPr>
          <a:xfrm xmlns:a="http://schemas.openxmlformats.org/drawingml/2006/main">
            <a:off x="6477000" y="238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Similar naam ko same person maan lene</a:t>
            </a:r>
          </a:p>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se galat connection ban sakta hai.</a:t>
            </a:r>
          </a:p>
        </p:txBody>
      </p:sp>
      <p:sp>
        <p:nvSpPr>
          <p:cNvPr id="7" name="">
            <a:extLst xmlns:a="http://schemas.openxmlformats.org/drawingml/2006/main">
              <a:ext uri="{FF2B5EF4-FFF2-40B4-BE49-F238E27FC236}">
                <a16:creationId xmlns:a16="http://schemas.microsoft.com/office/drawing/2014/main" id="{51BB1173-86EF-47A2-B89E-EE204AFB26E0}"/>
              </a:ext>
            </a:extLst>
          </p:cNvPr>
          <p:cNvSpPr>
            <a:spLocks xmlns:a="http://schemas.openxmlformats.org/drawingml/2006/main" noGrp="1"/>
          </p:cNvSpPr>
          <p:nvPr/>
        </p:nvSpPr>
        <p:spPr>
          <a:xfrm xmlns:a="http://schemas.openxmlformats.org/drawingml/2006/main">
            <a:off x="609600" y="400050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66E0EA"/>
                </a:solidFill>
                <a:latin typeface="Arial"/>
                <a:ea typeface="Arial"/>
                <a:cs typeface="Arial"/>
              </a:defRPr>
            </a:pPr>
            <a:r>
              <a:rPr sz="2325" b="1">
                <a:solidFill>
                  <a:srgbClr val="66E0EA"/>
                </a:solidFill>
                <a:latin typeface="Arial"/>
                <a:ea typeface="Arial"/>
                <a:cs typeface="Arial"/>
              </a:rPr>
              <a:t>03  Lead ka reason</a:t>
            </a:r>
          </a:p>
        </p:txBody>
      </p:sp>
      <p:sp>
        <p:nvSpPr>
          <p:cNvPr id="8" name="">
            <a:extLst xmlns:a="http://schemas.openxmlformats.org/drawingml/2006/main">
              <a:ext uri="{FF2B5EF4-FFF2-40B4-BE49-F238E27FC236}">
                <a16:creationId xmlns:a16="http://schemas.microsoft.com/office/drawing/2014/main" id="{E35AD72B-CE56-4FCF-A9A5-2B25C99A5BF4}"/>
              </a:ext>
            </a:extLst>
          </p:cNvPr>
          <p:cNvSpPr>
            <a:spLocks xmlns:a="http://schemas.openxmlformats.org/drawingml/2006/main" noGrp="1"/>
          </p:cNvSpPr>
          <p:nvPr/>
        </p:nvSpPr>
        <p:spPr>
          <a:xfrm xmlns:a="http://schemas.openxmlformats.org/drawingml/2006/main">
            <a:off x="609600" y="457200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Analyst ko source aur timing ke saath</a:t>
            </a:r>
          </a:p>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review karne layak context chahiye.</a:t>
            </a:r>
          </a:p>
        </p:txBody>
      </p:sp>
      <p:sp>
        <p:nvSpPr>
          <p:cNvPr id="9" name="">
            <a:extLst xmlns:a="http://schemas.openxmlformats.org/drawingml/2006/main">
              <a:ext uri="{FF2B5EF4-FFF2-40B4-BE49-F238E27FC236}">
                <a16:creationId xmlns:a16="http://schemas.microsoft.com/office/drawing/2014/main" id="{3D850D78-6864-487E-BF40-434AA74C8697}"/>
              </a:ext>
            </a:extLst>
          </p:cNvPr>
          <p:cNvSpPr>
            <a:spLocks xmlns:a="http://schemas.openxmlformats.org/drawingml/2006/main" noGrp="1"/>
          </p:cNvSpPr>
          <p:nvPr/>
        </p:nvSpPr>
        <p:spPr>
          <a:xfrm xmlns:a="http://schemas.openxmlformats.org/drawingml/2006/main">
            <a:off x="6477000" y="400050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66E0EA"/>
                </a:solidFill>
                <a:latin typeface="Arial"/>
                <a:ea typeface="Arial"/>
                <a:cs typeface="Arial"/>
              </a:defRPr>
            </a:pPr>
            <a:r>
              <a:rPr sz="2325" b="1">
                <a:solidFill>
                  <a:srgbClr val="66E0EA"/>
                </a:solidFill>
                <a:latin typeface="Arial"/>
                <a:ea typeface="Arial"/>
                <a:cs typeface="Arial"/>
              </a:rPr>
              <a:t>Target user</a:t>
            </a:r>
          </a:p>
        </p:txBody>
      </p:sp>
      <p:sp>
        <p:nvSpPr>
          <p:cNvPr id="10" name="">
            <a:extLst xmlns:a="http://schemas.openxmlformats.org/drawingml/2006/main">
              <a:ext uri="{FF2B5EF4-FFF2-40B4-BE49-F238E27FC236}">
                <a16:creationId xmlns:a16="http://schemas.microsoft.com/office/drawing/2014/main" id="{79AD9CA7-2980-4A05-858B-C691E1037403}"/>
              </a:ext>
            </a:extLst>
          </p:cNvPr>
          <p:cNvSpPr>
            <a:spLocks xmlns:a="http://schemas.openxmlformats.org/drawingml/2006/main" noGrp="1"/>
          </p:cNvSpPr>
          <p:nvPr/>
        </p:nvSpPr>
        <p:spPr>
          <a:xfrm xmlns:a="http://schemas.openxmlformats.org/drawingml/2006/main">
            <a:off x="6477000" y="457200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Authorized investigator / analyst</a:t>
            </a:r>
          </a:p>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Current scope: synthetic case</a:t>
            </a:r>
          </a:p>
        </p:txBody>
      </p:sp>
      <p:sp>
        <p:nvSpPr>
          <p:cNvPr id="11" name="">
            <a:extLst xmlns:a="http://schemas.openxmlformats.org/drawingml/2006/main">
              <a:ext uri="{FF2B5EF4-FFF2-40B4-BE49-F238E27FC236}">
                <a16:creationId xmlns:a16="http://schemas.microsoft.com/office/drawing/2014/main" id="{7662DC20-0D90-4D87-A376-2C58E75E7D0F}"/>
              </a:ext>
            </a:extLst>
          </p:cNvPr>
          <p:cNvSpPr>
            <a:spLocks xmlns:a="http://schemas.openxmlformats.org/drawingml/2006/main" noGrp="1"/>
          </p:cNvSpPr>
          <p:nvPr/>
        </p:nvSpPr>
        <p:spPr>
          <a:xfrm xmlns:a="http://schemas.openxmlformats.org/drawingml/2006/main">
            <a:off x="609600" y="607695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F2CC88"/>
                </a:solidFill>
                <a:latin typeface="Arial"/>
                <a:ea typeface="Arial"/>
                <a:cs typeface="Arial"/>
              </a:defRPr>
            </a:pPr>
            <a:r>
              <a:rPr sz="1350" b="0">
                <a:solidFill>
                  <a:srgbClr val="F2CC88"/>
                </a:solidFill>
                <a:latin typeface="Arial"/>
                <a:ea typeface="Arial"/>
                <a:cs typeface="Arial"/>
              </a:rPr>
              <a:t>Working PS: SIH26189. Official wording aur submission format ki confirmation pending.</a:t>
            </a:r>
          </a:p>
        </p:txBody>
      </p:sp>
    </p:spTree>
    <p:extLst>
      <p:ext uri="{BB962C8B-B14F-4D97-AF65-F5344CB8AC3E}">
        <p14:creationId xmlns:p14="http://schemas.microsoft.com/office/powerpoint/2010/main" val="2086376762"/>
      </p:ext>
    </p:extLst>
  </p:cSld>
</p:sld>
</file>

<file path=ppt/slides/slide3.xml><?xml version="1.0" encoding="utf-8"?>
<p:sld xmlns:p="http://schemas.openxmlformats.org/presentationml/2006/main">
  <p:cSld>
    <p:bg>
      <p:bgPr>
        <a:solidFill xmlns:a="http://schemas.openxmlformats.org/drawingml/2006/main">
          <a:srgbClr val="09121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CD03462-EEDA-466A-A1FD-248949355215}"/>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7FA"/>
                </a:solidFill>
                <a:latin typeface="Arial"/>
                <a:ea typeface="Arial"/>
                <a:cs typeface="Arial"/>
              </a:defRPr>
            </a:pPr>
            <a:r>
              <a:rPr sz="3300" b="1">
                <a:solidFill>
                  <a:srgbClr val="F3F7FA"/>
                </a:solidFill>
                <a:latin typeface="Arial"/>
                <a:ea typeface="Arial"/>
                <a:cs typeface="Arial"/>
              </a:rPr>
              <a:t>Solution: source se reviewed lead tak</a:t>
            </a:r>
          </a:p>
        </p:txBody>
      </p:sp>
      <p:sp>
        <p:nvSpPr>
          <p:cNvPr id="2" name="">
            <a:extLst xmlns:a="http://schemas.openxmlformats.org/drawingml/2006/main">
              <a:ext uri="{FF2B5EF4-FFF2-40B4-BE49-F238E27FC236}">
                <a16:creationId xmlns:a16="http://schemas.microsoft.com/office/drawing/2014/main" id="{5B498037-C7A4-42FB-9345-8CF92199D647}"/>
              </a:ext>
            </a:extLst>
          </p:cNvPr>
          <p:cNvSpPr>
            <a:spLocks xmlns:a="http://schemas.openxmlformats.org/drawingml/2006/main" noGrp="1"/>
          </p:cNvSpPr>
          <p:nvPr/>
        </p:nvSpPr>
        <p:spPr>
          <a:xfrm xmlns:a="http://schemas.openxmlformats.org/drawingml/2006/main">
            <a:off x="11049000" y="63722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2C2D0"/>
                </a:solidFill>
                <a:latin typeface="Arial"/>
                <a:ea typeface="Arial"/>
                <a:cs typeface="Arial"/>
              </a:defRPr>
            </a:pPr>
            <a:r>
              <a:rPr sz="1200" b="0">
                <a:solidFill>
                  <a:srgbClr val="B2C2D0"/>
                </a:solidFill>
                <a:latin typeface="Arial"/>
                <a:ea typeface="Arial"/>
                <a:cs typeface="Arial"/>
              </a:rPr>
              <a:t>03</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c8651b64e2e24102"/>
          <a:stretch xmlns:a="http://schemas.openxmlformats.org/drawingml/2006/main"/>
        </p:blipFill>
        <p:spPr>
          <a:xfrm xmlns:a="http://schemas.openxmlformats.org/drawingml/2006/main">
            <a:off x="613011" y="1666875"/>
            <a:ext cx="7708429" cy="4333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C08CC50-9BDF-4866-B6E1-933D82A8126F}"/>
              </a:ext>
            </a:extLst>
          </p:cNvPr>
          <p:cNvSpPr>
            <a:spLocks xmlns:a="http://schemas.openxmlformats.org/drawingml/2006/main" noGrp="1"/>
          </p:cNvSpPr>
          <p:nvPr/>
        </p:nvSpPr>
        <p:spPr>
          <a:xfrm xmlns:a="http://schemas.openxmlformats.org/drawingml/2006/main">
            <a:off x="8763000" y="1885950"/>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66E0EA"/>
                </a:solidFill>
                <a:latin typeface="Arial"/>
                <a:ea typeface="Arial"/>
                <a:cs typeface="Arial"/>
              </a:defRPr>
            </a:pPr>
            <a:r>
              <a:rPr sz="2100" b="1">
                <a:solidFill>
                  <a:srgbClr val="66E0EA"/>
                </a:solidFill>
                <a:latin typeface="Arial"/>
                <a:ea typeface="Arial"/>
                <a:cs typeface="Arial"/>
              </a:rPr>
              <a:t>Identity review</a:t>
            </a:r>
          </a:p>
        </p:txBody>
      </p:sp>
      <p:sp>
        <p:nvSpPr>
          <p:cNvPr id="5" name="">
            <a:extLst xmlns:a="http://schemas.openxmlformats.org/drawingml/2006/main">
              <a:ext uri="{FF2B5EF4-FFF2-40B4-BE49-F238E27FC236}">
                <a16:creationId xmlns:a16="http://schemas.microsoft.com/office/drawing/2014/main" id="{D6A484DB-46EA-4D36-9D11-9DAFB9CA9837}"/>
              </a:ext>
            </a:extLst>
          </p:cNvPr>
          <p:cNvSpPr>
            <a:spLocks xmlns:a="http://schemas.openxmlformats.org/drawingml/2006/main" noGrp="1"/>
          </p:cNvSpPr>
          <p:nvPr/>
        </p:nvSpPr>
        <p:spPr>
          <a:xfrm xmlns:a="http://schemas.openxmlformats.org/drawingml/2006/main">
            <a:off x="8763000" y="238125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2C2D0"/>
                </a:solidFill>
                <a:latin typeface="Arial"/>
                <a:ea typeface="Arial"/>
                <a:cs typeface="Arial"/>
              </a:defRPr>
            </a:pPr>
            <a:r>
              <a:rPr sz="1875" b="0">
                <a:solidFill>
                  <a:srgbClr val="B2C2D0"/>
                </a:solidFill>
                <a:latin typeface="Arial"/>
                <a:ea typeface="Arial"/>
                <a:cs typeface="Arial"/>
              </a:rPr>
              <a:t>Candidate ko evidence</a:t>
            </a:r>
          </a:p>
          <a:p xmlns:a="http://schemas.openxmlformats.org/drawingml/2006/main">
            <a:pPr>
              <a:defRPr sz="1875" b="0">
                <a:solidFill>
                  <a:srgbClr val="B2C2D0"/>
                </a:solidFill>
                <a:latin typeface="Arial"/>
                <a:ea typeface="Arial"/>
                <a:cs typeface="Arial"/>
              </a:defRPr>
            </a:pPr>
            <a:r>
              <a:rPr sz="1875" b="0">
                <a:solidFill>
                  <a:srgbClr val="B2C2D0"/>
                </a:solidFill>
                <a:latin typeface="Arial"/>
                <a:ea typeface="Arial"/>
                <a:cs typeface="Arial"/>
              </a:rPr>
              <a:t>ke saath confirm karo.</a:t>
            </a:r>
          </a:p>
        </p:txBody>
      </p:sp>
      <p:sp>
        <p:nvSpPr>
          <p:cNvPr id="6" name="">
            <a:extLst xmlns:a="http://schemas.openxmlformats.org/drawingml/2006/main">
              <a:ext uri="{FF2B5EF4-FFF2-40B4-BE49-F238E27FC236}">
                <a16:creationId xmlns:a16="http://schemas.microsoft.com/office/drawing/2014/main" id="{39615D95-EC55-4D9A-A14C-893E2B0F3B0B}"/>
              </a:ext>
            </a:extLst>
          </p:cNvPr>
          <p:cNvSpPr>
            <a:spLocks xmlns:a="http://schemas.openxmlformats.org/drawingml/2006/main" noGrp="1"/>
          </p:cNvSpPr>
          <p:nvPr/>
        </p:nvSpPr>
        <p:spPr>
          <a:xfrm xmlns:a="http://schemas.openxmlformats.org/drawingml/2006/main">
            <a:off x="8763000" y="3581400"/>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66E0EA"/>
                </a:solidFill>
                <a:latin typeface="Arial"/>
                <a:ea typeface="Arial"/>
                <a:cs typeface="Arial"/>
              </a:defRPr>
            </a:pPr>
            <a:r>
              <a:rPr sz="2100" b="1">
                <a:solidFill>
                  <a:srgbClr val="66E0EA"/>
                </a:solidFill>
                <a:latin typeface="Arial"/>
                <a:ea typeface="Arial"/>
                <a:cs typeface="Arial"/>
              </a:rPr>
              <a:t>Source-linked path</a:t>
            </a:r>
          </a:p>
        </p:txBody>
      </p:sp>
      <p:sp>
        <p:nvSpPr>
          <p:cNvPr id="7" name="">
            <a:extLst xmlns:a="http://schemas.openxmlformats.org/drawingml/2006/main">
              <a:ext uri="{FF2B5EF4-FFF2-40B4-BE49-F238E27FC236}">
                <a16:creationId xmlns:a16="http://schemas.microsoft.com/office/drawing/2014/main" id="{0437C64A-F45C-4AF7-94D1-5089811758C2}"/>
              </a:ext>
            </a:extLst>
          </p:cNvPr>
          <p:cNvSpPr>
            <a:spLocks xmlns:a="http://schemas.openxmlformats.org/drawingml/2006/main" noGrp="1"/>
          </p:cNvSpPr>
          <p:nvPr/>
        </p:nvSpPr>
        <p:spPr>
          <a:xfrm xmlns:a="http://schemas.openxmlformats.org/drawingml/2006/main">
            <a:off x="8763000" y="4067175"/>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2C2D0"/>
                </a:solidFill>
                <a:latin typeface="Arial"/>
                <a:ea typeface="Arial"/>
                <a:cs typeface="Arial"/>
              </a:defRPr>
            </a:pPr>
            <a:r>
              <a:rPr sz="1875" b="0">
                <a:solidFill>
                  <a:srgbClr val="B2C2D0"/>
                </a:solidFill>
                <a:latin typeface="Arial"/>
                <a:ea typeface="Arial"/>
                <a:cs typeface="Arial"/>
              </a:rPr>
              <a:t>Har relationship ka</a:t>
            </a:r>
          </a:p>
          <a:p xmlns:a="http://schemas.openxmlformats.org/drawingml/2006/main">
            <a:pPr>
              <a:defRPr sz="1875" b="0">
                <a:solidFill>
                  <a:srgbClr val="B2C2D0"/>
                </a:solidFill>
                <a:latin typeface="Arial"/>
                <a:ea typeface="Arial"/>
                <a:cs typeface="Arial"/>
              </a:defRPr>
            </a:pPr>
            <a:r>
              <a:rPr sz="1875" b="0">
                <a:solidFill>
                  <a:srgbClr val="B2C2D0"/>
                </a:solidFill>
                <a:latin typeface="Arial"/>
                <a:ea typeface="Arial"/>
                <a:cs typeface="Arial"/>
              </a:rPr>
              <a:t>original record kholo.</a:t>
            </a:r>
          </a:p>
        </p:txBody>
      </p:sp>
      <p:sp>
        <p:nvSpPr>
          <p:cNvPr id="8" name="">
            <a:extLst xmlns:a="http://schemas.openxmlformats.org/drawingml/2006/main">
              <a:ext uri="{FF2B5EF4-FFF2-40B4-BE49-F238E27FC236}">
                <a16:creationId xmlns:a16="http://schemas.microsoft.com/office/drawing/2014/main" id="{A5AD767B-B89F-4E1E-85B2-95D1898C49C7}"/>
              </a:ext>
            </a:extLst>
          </p:cNvPr>
          <p:cNvSpPr>
            <a:spLocks xmlns:a="http://schemas.openxmlformats.org/drawingml/2006/main" noGrp="1"/>
          </p:cNvSpPr>
          <p:nvPr/>
        </p:nvSpPr>
        <p:spPr>
          <a:xfrm xmlns:a="http://schemas.openxmlformats.org/drawingml/2006/main">
            <a:off x="609600" y="6124575"/>
            <a:ext cx="10287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2C2D0"/>
                </a:solidFill>
                <a:latin typeface="Arial"/>
                <a:ea typeface="Arial"/>
                <a:cs typeface="Arial"/>
              </a:defRPr>
            </a:pPr>
            <a:r>
              <a:rPr sz="1350" b="0">
                <a:solidFill>
                  <a:srgbClr val="B2C2D0"/>
                </a:solidFill>
                <a:latin typeface="Arial"/>
                <a:ea typeface="Arial"/>
                <a:cs typeface="Arial"/>
              </a:rPr>
              <a:t>Pehle captured synthetic run. Screenshot mein purana product naam VEIL hai.</a:t>
            </a:r>
          </a:p>
        </p:txBody>
      </p:sp>
    </p:spTree>
    <p:extLst>
      <p:ext uri="{BB962C8B-B14F-4D97-AF65-F5344CB8AC3E}">
        <p14:creationId xmlns:p14="http://schemas.microsoft.com/office/powerpoint/2010/main" val="1076109588"/>
      </p:ext>
    </p:extLst>
  </p:cSld>
</p:sld>
</file>

<file path=ppt/slides/slide4.xml><?xml version="1.0" encoding="utf-8"?>
<p:sld xmlns:p="http://schemas.openxmlformats.org/presentationml/2006/main">
  <p:cSld>
    <p:bg>
      <p:bgPr>
        <a:solidFill xmlns:a="http://schemas.openxmlformats.org/drawingml/2006/main">
          <a:srgbClr val="09121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F0113D0-FFBD-4905-AE6C-3F527FF97A2F}"/>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7FA"/>
                </a:solidFill>
                <a:latin typeface="Arial"/>
                <a:ea typeface="Arial"/>
                <a:cs typeface="Arial"/>
              </a:defRPr>
            </a:pPr>
            <a:r>
              <a:rPr sz="3300" b="1">
                <a:solidFill>
                  <a:srgbClr val="F3F7FA"/>
                </a:solidFill>
                <a:latin typeface="Arial"/>
                <a:ea typeface="Arial"/>
                <a:cs typeface="Arial"/>
              </a:rPr>
              <a:t>Lead 17 ka explainable signal</a:t>
            </a:r>
          </a:p>
        </p:txBody>
      </p:sp>
      <p:sp>
        <p:nvSpPr>
          <p:cNvPr id="2" name="">
            <a:extLst xmlns:a="http://schemas.openxmlformats.org/drawingml/2006/main">
              <a:ext uri="{FF2B5EF4-FFF2-40B4-BE49-F238E27FC236}">
                <a16:creationId xmlns:a16="http://schemas.microsoft.com/office/drawing/2014/main" id="{98CEB8DF-4401-4F35-A07A-79BDE4342AF3}"/>
              </a:ext>
            </a:extLst>
          </p:cNvPr>
          <p:cNvSpPr>
            <a:spLocks xmlns:a="http://schemas.openxmlformats.org/drawingml/2006/main" noGrp="1"/>
          </p:cNvSpPr>
          <p:nvPr/>
        </p:nvSpPr>
        <p:spPr>
          <a:xfrm xmlns:a="http://schemas.openxmlformats.org/drawingml/2006/main">
            <a:off x="11049000" y="63722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2C2D0"/>
                </a:solidFill>
                <a:latin typeface="Arial"/>
                <a:ea typeface="Arial"/>
                <a:cs typeface="Arial"/>
              </a:defRPr>
            </a:pPr>
            <a:r>
              <a:rPr sz="1200" b="0">
                <a:solidFill>
                  <a:srgbClr val="B2C2D0"/>
                </a:solidFill>
                <a:latin typeface="Arial"/>
                <a:ea typeface="Arial"/>
                <a:cs typeface="Arial"/>
              </a:rPr>
              <a:t>04</a:t>
            </a:r>
          </a:p>
        </p:txBody>
      </p:sp>
      <p:graphicFrame>
        <p:nvGraphicFramePr>
          <p:cNvPr id="11" name="Chart"/>
          <p:cNvGraphicFramePr/>
          <p:nvPr/>
        </p:nvGraphicFramePr>
        <p:xfrm>
          <a:off xmlns:a="http://schemas.openxmlformats.org/drawingml/2006/main" x="609600" y="1857375"/>
          <a:ext xmlns:a="http://schemas.openxmlformats.org/drawingml/2006/main" cx="6191250" cy="3619500"/>
        </p:xfrm>
        <a:graphic xmlns:a="http://schemas.openxmlformats.org/drawingml/2006/main">
          <a:graphicData uri="http://schemas.openxmlformats.org/drawingml/2006/chart">
            <c:chart xmlns:r="http://schemas.openxmlformats.org/officeDocument/2006/relationships" xmlns:c="http://schemas.openxmlformats.org/drawingml/2006/chart" r:id="Rf9580cd839ac4c3e"/>
          </a:graphicData>
        </a:graphic>
      </p:graphicFrame>
      <p:sp>
        <p:nvSpPr>
          <p:cNvPr id="4" name="">
            <a:extLst xmlns:a="http://schemas.openxmlformats.org/drawingml/2006/main">
              <a:ext uri="{FF2B5EF4-FFF2-40B4-BE49-F238E27FC236}">
                <a16:creationId xmlns:a16="http://schemas.microsoft.com/office/drawing/2014/main" id="{E7276A80-D7B7-4EA6-AC62-8E627F4D8D7A}"/>
              </a:ext>
            </a:extLst>
          </p:cNvPr>
          <p:cNvSpPr>
            <a:spLocks xmlns:a="http://schemas.openxmlformats.org/drawingml/2006/main" noGrp="1"/>
          </p:cNvSpPr>
          <p:nvPr/>
        </p:nvSpPr>
        <p:spPr>
          <a:xfrm xmlns:a="http://schemas.openxmlformats.org/drawingml/2006/main">
            <a:off x="7477125" y="1809750"/>
            <a:ext cx="3905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66E0EA"/>
                </a:solidFill>
                <a:latin typeface="Arial"/>
                <a:ea typeface="Arial"/>
                <a:cs typeface="Arial"/>
              </a:defRPr>
            </a:pPr>
            <a:r>
              <a:rPr sz="3150" b="1">
                <a:solidFill>
                  <a:srgbClr val="66E0EA"/>
                </a:solidFill>
                <a:latin typeface="Arial"/>
                <a:ea typeface="Arial"/>
                <a:cs typeface="Arial"/>
              </a:rPr>
              <a:t>3 transfers</a:t>
            </a:r>
          </a:p>
        </p:txBody>
      </p:sp>
      <p:sp>
        <p:nvSpPr>
          <p:cNvPr id="5" name="">
            <a:extLst xmlns:a="http://schemas.openxmlformats.org/drawingml/2006/main">
              <a:ext uri="{FF2B5EF4-FFF2-40B4-BE49-F238E27FC236}">
                <a16:creationId xmlns:a16="http://schemas.microsoft.com/office/drawing/2014/main" id="{3A58A251-3E02-42AF-A8F7-461B723D7D44}"/>
              </a:ext>
            </a:extLst>
          </p:cNvPr>
          <p:cNvSpPr>
            <a:spLocks xmlns:a="http://schemas.openxmlformats.org/drawingml/2006/main" noGrp="1"/>
          </p:cNvSpPr>
          <p:nvPr/>
        </p:nvSpPr>
        <p:spPr>
          <a:xfrm xmlns:a="http://schemas.openxmlformats.org/drawingml/2006/main">
            <a:off x="7477125" y="2476500"/>
            <a:ext cx="3905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75 minutes mein</a:t>
            </a:r>
          </a:p>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INR 1,95,000 transfer volume</a:t>
            </a:r>
          </a:p>
        </p:txBody>
      </p:sp>
      <p:sp>
        <p:nvSpPr>
          <p:cNvPr id="6" name="">
            <a:extLst xmlns:a="http://schemas.openxmlformats.org/drawingml/2006/main">
              <a:ext uri="{FF2B5EF4-FFF2-40B4-BE49-F238E27FC236}">
                <a16:creationId xmlns:a16="http://schemas.microsoft.com/office/drawing/2014/main" id="{CD0D4D3C-0938-4809-A264-65A03920F0D4}"/>
              </a:ext>
            </a:extLst>
          </p:cNvPr>
          <p:cNvSpPr>
            <a:spLocks xmlns:a="http://schemas.openxmlformats.org/drawingml/2006/main" noGrp="1"/>
          </p:cNvSpPr>
          <p:nvPr/>
        </p:nvSpPr>
        <p:spPr>
          <a:xfrm xmlns:a="http://schemas.openxmlformats.org/drawingml/2006/main">
            <a:off x="7477125" y="3971925"/>
            <a:ext cx="3905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3F7FA"/>
                </a:solidFill>
                <a:latin typeface="Arial"/>
                <a:ea typeface="Arial"/>
                <a:cs typeface="Arial"/>
              </a:defRPr>
            </a:pPr>
            <a:r>
              <a:rPr sz="2250" b="1">
                <a:solidFill>
                  <a:srgbClr val="F3F7FA"/>
                </a:solidFill>
                <a:latin typeface="Arial"/>
                <a:ea typeface="Arial"/>
                <a:cs typeface="Arial"/>
              </a:rPr>
              <a:t>Threshold visible hai</a:t>
            </a:r>
          </a:p>
        </p:txBody>
      </p:sp>
      <p:sp>
        <p:nvSpPr>
          <p:cNvPr id="7" name="">
            <a:extLst xmlns:a="http://schemas.openxmlformats.org/drawingml/2006/main">
              <a:ext uri="{FF2B5EF4-FFF2-40B4-BE49-F238E27FC236}">
                <a16:creationId xmlns:a16="http://schemas.microsoft.com/office/drawing/2014/main" id="{BAB48E48-0521-4A69-B45E-234C10B3F132}"/>
              </a:ext>
            </a:extLst>
          </p:cNvPr>
          <p:cNvSpPr>
            <a:spLocks xmlns:a="http://schemas.openxmlformats.org/drawingml/2006/main" noGrp="1"/>
          </p:cNvSpPr>
          <p:nvPr/>
        </p:nvSpPr>
        <p:spPr>
          <a:xfrm xmlns:a="http://schemas.openxmlformats.org/drawingml/2006/main">
            <a:off x="7477125" y="4524375"/>
            <a:ext cx="390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2C2D0"/>
                </a:solidFill>
                <a:latin typeface="Arial"/>
                <a:ea typeface="Arial"/>
                <a:cs typeface="Arial"/>
              </a:defRPr>
            </a:pPr>
            <a:r>
              <a:rPr sz="1950" b="0">
                <a:solidFill>
                  <a:srgbClr val="B2C2D0"/>
                </a:solidFill>
                <a:latin typeface="Arial"/>
                <a:ea typeface="Arial"/>
                <a:cs typeface="Arial"/>
              </a:rPr>
              <a:t>max(5, 3 × 2) = 6 calls</a:t>
            </a:r>
          </a:p>
          <a:p xmlns:a="http://schemas.openxmlformats.org/drawingml/2006/main">
            <a:pPr>
              <a:defRPr sz="1950" b="0">
                <a:solidFill>
                  <a:srgbClr val="B2C2D0"/>
                </a:solidFill>
                <a:latin typeface="Arial"/>
                <a:ea typeface="Arial"/>
                <a:cs typeface="Arial"/>
              </a:defRPr>
            </a:pPr>
            <a:r>
              <a:rPr sz="1950" b="0">
                <a:solidFill>
                  <a:srgbClr val="B2C2D0"/>
                </a:solidFill>
                <a:latin typeface="Arial"/>
                <a:ea typeface="Arial"/>
                <a:cs typeface="Arial"/>
              </a:rPr>
              <a:t>11 observed calls &gt; 6</a:t>
            </a:r>
          </a:p>
        </p:txBody>
      </p:sp>
      <p:sp>
        <p:nvSpPr>
          <p:cNvPr id="8" name="">
            <a:extLst xmlns:a="http://schemas.openxmlformats.org/drawingml/2006/main">
              <a:ext uri="{FF2B5EF4-FFF2-40B4-BE49-F238E27FC236}">
                <a16:creationId xmlns:a16="http://schemas.microsoft.com/office/drawing/2014/main" id="{8DDFB974-D222-4007-A6B7-98124354C78F}"/>
              </a:ext>
            </a:extLst>
          </p:cNvPr>
          <p:cNvSpPr>
            <a:spLocks xmlns:a="http://schemas.openxmlformats.org/drawingml/2006/main" noGrp="1"/>
          </p:cNvSpPr>
          <p:nvPr/>
        </p:nvSpPr>
        <p:spPr>
          <a:xfrm xmlns:a="http://schemas.openxmlformats.org/drawingml/2006/main">
            <a:off x="609600" y="5991225"/>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F2CC88"/>
                </a:solidFill>
                <a:latin typeface="Arial"/>
                <a:ea typeface="Arial"/>
                <a:cs typeface="Arial"/>
              </a:defRPr>
            </a:pPr>
            <a:r>
              <a:rPr sz="1350" b="0">
                <a:solidFill>
                  <a:srgbClr val="F2CC88"/>
                </a:solidFill>
                <a:latin typeface="Arial"/>
                <a:ea typeface="Arial"/>
                <a:cs typeface="Arial"/>
              </a:rPr>
              <a:t>Synthetic example. *Event day replay time tak. Transfer volume mein wahi funds dobara count ho sakte hain.</a:t>
            </a:r>
          </a:p>
        </p:txBody>
      </p:sp>
    </p:spTree>
    <p:extLst>
      <p:ext uri="{BB962C8B-B14F-4D97-AF65-F5344CB8AC3E}">
        <p14:creationId xmlns:p14="http://schemas.microsoft.com/office/powerpoint/2010/main" val="922652180"/>
      </p:ext>
    </p:extLst>
  </p:cSld>
</p:sld>
</file>

<file path=ppt/slides/slide5.xml><?xml version="1.0" encoding="utf-8"?>
<p:sld xmlns:p="http://schemas.openxmlformats.org/presentationml/2006/main">
  <p:cSld>
    <p:bg>
      <p:bgPr>
        <a:solidFill xmlns:a="http://schemas.openxmlformats.org/drawingml/2006/main">
          <a:srgbClr val="09121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6B399A8-A036-4673-B160-B2F6A61B29D6}"/>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7FA"/>
                </a:solidFill>
                <a:latin typeface="Arial"/>
                <a:ea typeface="Arial"/>
                <a:cs typeface="Arial"/>
              </a:defRPr>
            </a:pPr>
            <a:r>
              <a:rPr sz="3300" b="1">
                <a:solidFill>
                  <a:srgbClr val="F3F7FA"/>
                </a:solidFill>
                <a:latin typeface="Arial"/>
                <a:ea typeface="Arial"/>
                <a:cs typeface="Arial"/>
              </a:rPr>
              <a:t>Technical approach</a:t>
            </a:r>
          </a:p>
        </p:txBody>
      </p:sp>
      <p:sp>
        <p:nvSpPr>
          <p:cNvPr id="2" name="">
            <a:extLst xmlns:a="http://schemas.openxmlformats.org/drawingml/2006/main">
              <a:ext uri="{FF2B5EF4-FFF2-40B4-BE49-F238E27FC236}">
                <a16:creationId xmlns:a16="http://schemas.microsoft.com/office/drawing/2014/main" id="{CC4FC78D-447D-4B26-BC19-C253F3C83D4E}"/>
              </a:ext>
            </a:extLst>
          </p:cNvPr>
          <p:cNvSpPr>
            <a:spLocks xmlns:a="http://schemas.openxmlformats.org/drawingml/2006/main" noGrp="1"/>
          </p:cNvSpPr>
          <p:nvPr/>
        </p:nvSpPr>
        <p:spPr>
          <a:xfrm xmlns:a="http://schemas.openxmlformats.org/drawingml/2006/main">
            <a:off x="11049000" y="63722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2C2D0"/>
                </a:solidFill>
                <a:latin typeface="Arial"/>
                <a:ea typeface="Arial"/>
                <a:cs typeface="Arial"/>
              </a:defRPr>
            </a:pPr>
            <a:r>
              <a:rPr sz="1200" b="0">
                <a:solidFill>
                  <a:srgbClr val="B2C2D0"/>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250A7D61-3AD7-4BA3-B4A2-C4B71E6C60DE}"/>
              </a:ext>
            </a:extLst>
          </p:cNvPr>
          <p:cNvSpPr>
            <a:spLocks xmlns:a="http://schemas.openxmlformats.org/drawingml/2006/main" noGrp="1"/>
          </p:cNvSpPr>
          <p:nvPr/>
        </p:nvSpPr>
        <p:spPr>
          <a:xfrm xmlns:a="http://schemas.openxmlformats.org/drawingml/2006/main">
            <a:off x="609600" y="1819275"/>
            <a:ext cx="361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6E0EA"/>
                </a:solidFill>
                <a:latin typeface="Arial"/>
                <a:ea typeface="Arial"/>
                <a:cs typeface="Arial"/>
              </a:defRPr>
            </a:pPr>
            <a:r>
              <a:rPr sz="2175" b="1">
                <a:solidFill>
                  <a:srgbClr val="66E0EA"/>
                </a:solidFill>
                <a:latin typeface="Arial"/>
                <a:ea typeface="Arial"/>
                <a:cs typeface="Arial"/>
              </a:rPr>
              <a:t>Input aur extraction</a:t>
            </a:r>
          </a:p>
        </p:txBody>
      </p:sp>
      <p:sp>
        <p:nvSpPr>
          <p:cNvPr id="4" name="">
            <a:extLst xmlns:a="http://schemas.openxmlformats.org/drawingml/2006/main">
              <a:ext uri="{FF2B5EF4-FFF2-40B4-BE49-F238E27FC236}">
                <a16:creationId xmlns:a16="http://schemas.microsoft.com/office/drawing/2014/main" id="{1FB191E3-C099-4D53-BF6B-90BDE47C76B6}"/>
              </a:ext>
            </a:extLst>
          </p:cNvPr>
          <p:cNvSpPr>
            <a:spLocks xmlns:a="http://schemas.openxmlformats.org/drawingml/2006/main" noGrp="1"/>
          </p:cNvSpPr>
          <p:nvPr/>
        </p:nvSpPr>
        <p:spPr>
          <a:xfrm xmlns:a="http://schemas.openxmlformats.org/drawingml/2006/main">
            <a:off x="4476750" y="1819275"/>
            <a:ext cx="7029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Controlled CSV/TXT, regex, optional spaCy NER</a:t>
            </a:r>
          </a:p>
        </p:txBody>
      </p:sp>
      <p:sp>
        <p:nvSpPr>
          <p:cNvPr id="5" name="">
            <a:extLst xmlns:a="http://schemas.openxmlformats.org/drawingml/2006/main">
              <a:ext uri="{FF2B5EF4-FFF2-40B4-BE49-F238E27FC236}">
                <a16:creationId xmlns:a16="http://schemas.microsoft.com/office/drawing/2014/main" id="{CCE6E55C-6ED8-4334-A33E-4B09A5A09E47}"/>
              </a:ext>
            </a:extLst>
          </p:cNvPr>
          <p:cNvSpPr>
            <a:spLocks xmlns:a="http://schemas.openxmlformats.org/drawingml/2006/main" noGrp="1"/>
          </p:cNvSpPr>
          <p:nvPr/>
        </p:nvSpPr>
        <p:spPr>
          <a:xfrm xmlns:a="http://schemas.openxmlformats.org/drawingml/2006/main">
            <a:off x="609600" y="2847975"/>
            <a:ext cx="361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6E0EA"/>
                </a:solidFill>
                <a:latin typeface="Arial"/>
                <a:ea typeface="Arial"/>
                <a:cs typeface="Arial"/>
              </a:defRPr>
            </a:pPr>
            <a:r>
              <a:rPr sz="2175" b="1">
                <a:solidFill>
                  <a:srgbClr val="66E0EA"/>
                </a:solidFill>
                <a:latin typeface="Arial"/>
                <a:ea typeface="Arial"/>
                <a:cs typeface="Arial"/>
              </a:rPr>
              <a:t>Graph aur identity</a:t>
            </a:r>
          </a:p>
        </p:txBody>
      </p:sp>
      <p:sp>
        <p:nvSpPr>
          <p:cNvPr id="6" name="">
            <a:extLst xmlns:a="http://schemas.openxmlformats.org/drawingml/2006/main">
              <a:ext uri="{FF2B5EF4-FFF2-40B4-BE49-F238E27FC236}">
                <a16:creationId xmlns:a16="http://schemas.microsoft.com/office/drawing/2014/main" id="{3C824884-79C3-4991-8488-FF090778DEA9}"/>
              </a:ext>
            </a:extLst>
          </p:cNvPr>
          <p:cNvSpPr>
            <a:spLocks xmlns:a="http://schemas.openxmlformats.org/drawingml/2006/main" noGrp="1"/>
          </p:cNvSpPr>
          <p:nvPr/>
        </p:nvSpPr>
        <p:spPr>
          <a:xfrm xmlns:a="http://schemas.openxmlformats.org/drawingml/2006/main">
            <a:off x="4476750" y="2847975"/>
            <a:ext cx="7029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NetworkX paths, evidence links, reversible review</a:t>
            </a:r>
          </a:p>
        </p:txBody>
      </p:sp>
      <p:sp>
        <p:nvSpPr>
          <p:cNvPr id="7" name="">
            <a:extLst xmlns:a="http://schemas.openxmlformats.org/drawingml/2006/main">
              <a:ext uri="{FF2B5EF4-FFF2-40B4-BE49-F238E27FC236}">
                <a16:creationId xmlns:a16="http://schemas.microsoft.com/office/drawing/2014/main" id="{64760C08-3A11-4EE0-93DE-2A3A4B1B1B32}"/>
              </a:ext>
            </a:extLst>
          </p:cNvPr>
          <p:cNvSpPr>
            <a:spLocks xmlns:a="http://schemas.openxmlformats.org/drawingml/2006/main" noGrp="1"/>
          </p:cNvSpPr>
          <p:nvPr/>
        </p:nvSpPr>
        <p:spPr>
          <a:xfrm xmlns:a="http://schemas.openxmlformats.org/drawingml/2006/main">
            <a:off x="609600" y="3876675"/>
            <a:ext cx="361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6E0EA"/>
                </a:solidFill>
                <a:latin typeface="Arial"/>
                <a:ea typeface="Arial"/>
                <a:cs typeface="Arial"/>
              </a:defRPr>
            </a:pPr>
            <a:r>
              <a:rPr sz="2175" b="1">
                <a:solidFill>
                  <a:srgbClr val="66E0EA"/>
                </a:solidFill>
                <a:latin typeface="Arial"/>
                <a:ea typeface="Arial"/>
                <a:cs typeface="Arial"/>
              </a:rPr>
              <a:t>Signals aur review</a:t>
            </a:r>
          </a:p>
        </p:txBody>
      </p:sp>
      <p:sp>
        <p:nvSpPr>
          <p:cNvPr id="8" name="">
            <a:extLst xmlns:a="http://schemas.openxmlformats.org/drawingml/2006/main">
              <a:ext uri="{FF2B5EF4-FFF2-40B4-BE49-F238E27FC236}">
                <a16:creationId xmlns:a16="http://schemas.microsoft.com/office/drawing/2014/main" id="{D4B4CFA6-A8F2-44FB-AB56-EB44705BCDDE}"/>
              </a:ext>
            </a:extLst>
          </p:cNvPr>
          <p:cNvSpPr>
            <a:spLocks xmlns:a="http://schemas.openxmlformats.org/drawingml/2006/main" noGrp="1"/>
          </p:cNvSpPr>
          <p:nvPr/>
        </p:nvSpPr>
        <p:spPr>
          <a:xfrm xmlns:a="http://schemas.openxmlformats.org/drawingml/2006/main">
            <a:off x="4476750" y="3876675"/>
            <a:ext cx="7029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Temporal rules, secondary Isolation Forest triage</a:t>
            </a:r>
          </a:p>
        </p:txBody>
      </p:sp>
      <p:sp>
        <p:nvSpPr>
          <p:cNvPr id="9" name="">
            <a:extLst xmlns:a="http://schemas.openxmlformats.org/drawingml/2006/main">
              <a:ext uri="{FF2B5EF4-FFF2-40B4-BE49-F238E27FC236}">
                <a16:creationId xmlns:a16="http://schemas.microsoft.com/office/drawing/2014/main" id="{7ACA9D9A-6043-4096-9C7C-A747F8444A38}"/>
              </a:ext>
            </a:extLst>
          </p:cNvPr>
          <p:cNvSpPr>
            <a:spLocks xmlns:a="http://schemas.openxmlformats.org/drawingml/2006/main" noGrp="1"/>
          </p:cNvSpPr>
          <p:nvPr/>
        </p:nvSpPr>
        <p:spPr>
          <a:xfrm xmlns:a="http://schemas.openxmlformats.org/drawingml/2006/main">
            <a:off x="609600" y="4905375"/>
            <a:ext cx="361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6E0EA"/>
                </a:solidFill>
                <a:latin typeface="Arial"/>
                <a:ea typeface="Arial"/>
                <a:cs typeface="Arial"/>
              </a:defRPr>
            </a:pPr>
            <a:r>
              <a:rPr sz="2175" b="1">
                <a:solidFill>
                  <a:srgbClr val="66E0EA"/>
                </a:solidFill>
                <a:latin typeface="Arial"/>
                <a:ea typeface="Arial"/>
                <a:cs typeface="Arial"/>
              </a:rPr>
              <a:t>Interface aur storage</a:t>
            </a:r>
          </a:p>
        </p:txBody>
      </p:sp>
      <p:sp>
        <p:nvSpPr>
          <p:cNvPr id="10" name="">
            <a:extLst xmlns:a="http://schemas.openxmlformats.org/drawingml/2006/main">
              <a:ext uri="{FF2B5EF4-FFF2-40B4-BE49-F238E27FC236}">
                <a16:creationId xmlns:a16="http://schemas.microsoft.com/office/drawing/2014/main" id="{1A0E8A6F-1BD3-418B-A6BE-4BDCDDE696FD}"/>
              </a:ext>
            </a:extLst>
          </p:cNvPr>
          <p:cNvSpPr>
            <a:spLocks xmlns:a="http://schemas.openxmlformats.org/drawingml/2006/main" noGrp="1"/>
          </p:cNvSpPr>
          <p:nvPr/>
        </p:nvSpPr>
        <p:spPr>
          <a:xfrm xmlns:a="http://schemas.openxmlformats.org/drawingml/2006/main">
            <a:off x="4476750" y="4905375"/>
            <a:ext cx="70294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React + Cytoscape, FastAPI, local SQLite</a:t>
            </a:r>
          </a:p>
        </p:txBody>
      </p:sp>
      <p:sp>
        <p:nvSpPr>
          <p:cNvPr id="11" name="">
            <a:extLst xmlns:a="http://schemas.openxmlformats.org/drawingml/2006/main">
              <a:ext uri="{FF2B5EF4-FFF2-40B4-BE49-F238E27FC236}">
                <a16:creationId xmlns:a16="http://schemas.microsoft.com/office/drawing/2014/main" id="{9ADAEA4B-BD30-4B2D-93A8-EC51CB1E47D5}"/>
              </a:ext>
            </a:extLst>
          </p:cNvPr>
          <p:cNvSpPr>
            <a:spLocks xmlns:a="http://schemas.openxmlformats.org/drawingml/2006/main" noGrp="1"/>
          </p:cNvSpPr>
          <p:nvPr/>
        </p:nvSpPr>
        <p:spPr>
          <a:xfrm xmlns:a="http://schemas.openxmlformats.org/drawingml/2006/main">
            <a:off x="609600" y="60769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F3F7FA"/>
                </a:solidFill>
                <a:latin typeface="Arial"/>
                <a:ea typeface="Arial"/>
                <a:cs typeface="Arial"/>
              </a:defRPr>
            </a:pPr>
            <a:r>
              <a:rPr sz="1650" b="0">
                <a:solidFill>
                  <a:srgbClr val="F3F7FA"/>
                </a:solidFill>
                <a:latin typeface="Arial"/>
                <a:ea typeface="Arial"/>
                <a:cs typeface="Arial"/>
              </a:rPr>
              <a:t>Core demo ko external AI API ki zaroorat nahi hai.</a:t>
            </a:r>
          </a:p>
        </p:txBody>
      </p:sp>
    </p:spTree>
    <p:extLst>
      <p:ext uri="{BB962C8B-B14F-4D97-AF65-F5344CB8AC3E}">
        <p14:creationId xmlns:p14="http://schemas.microsoft.com/office/powerpoint/2010/main" val="572555433"/>
      </p:ext>
    </p:extLst>
  </p:cSld>
</p:sld>
</file>

<file path=ppt/slides/slide6.xml><?xml version="1.0" encoding="utf-8"?>
<p:sld xmlns:p="http://schemas.openxmlformats.org/presentationml/2006/main">
  <p:cSld>
    <p:bg>
      <p:bgPr>
        <a:solidFill xmlns:a="http://schemas.openxmlformats.org/drawingml/2006/main">
          <a:srgbClr val="09121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9286739-26FE-455E-A62B-38AB91716E0A}"/>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7FA"/>
                </a:solidFill>
                <a:latin typeface="Arial"/>
                <a:ea typeface="Arial"/>
                <a:cs typeface="Arial"/>
              </a:defRPr>
            </a:pPr>
            <a:r>
              <a:rPr sz="3300" b="1">
                <a:solidFill>
                  <a:srgbClr val="F3F7FA"/>
                </a:solidFill>
                <a:latin typeface="Arial"/>
                <a:ea typeface="Arial"/>
                <a:cs typeface="Arial"/>
              </a:rPr>
              <a:t>Live demo: ek case, ek evidence chain</a:t>
            </a:r>
          </a:p>
        </p:txBody>
      </p:sp>
      <p:sp>
        <p:nvSpPr>
          <p:cNvPr id="2" name="">
            <a:extLst xmlns:a="http://schemas.openxmlformats.org/drawingml/2006/main">
              <a:ext uri="{FF2B5EF4-FFF2-40B4-BE49-F238E27FC236}">
                <a16:creationId xmlns:a16="http://schemas.microsoft.com/office/drawing/2014/main" id="{66A44F92-F096-43F9-AA7D-DD28E0EE4BFA}"/>
              </a:ext>
            </a:extLst>
          </p:cNvPr>
          <p:cNvSpPr>
            <a:spLocks xmlns:a="http://schemas.openxmlformats.org/drawingml/2006/main" noGrp="1"/>
          </p:cNvSpPr>
          <p:nvPr/>
        </p:nvSpPr>
        <p:spPr>
          <a:xfrm xmlns:a="http://schemas.openxmlformats.org/drawingml/2006/main">
            <a:off x="11049000" y="63722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2C2D0"/>
                </a:solidFill>
                <a:latin typeface="Arial"/>
                <a:ea typeface="Arial"/>
                <a:cs typeface="Arial"/>
              </a:defRPr>
            </a:pPr>
            <a:r>
              <a:rPr sz="1200" b="0">
                <a:solidFill>
                  <a:srgbClr val="B2C2D0"/>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D67DDA1D-2E6F-4654-B125-D68DC64E57D7}"/>
              </a:ext>
            </a:extLst>
          </p:cNvPr>
          <p:cNvSpPr>
            <a:spLocks xmlns:a="http://schemas.openxmlformats.org/drawingml/2006/main" noGrp="1"/>
          </p:cNvSpPr>
          <p:nvPr/>
        </p:nvSpPr>
        <p:spPr>
          <a:xfrm xmlns:a="http://schemas.openxmlformats.org/drawingml/2006/main">
            <a:off x="609600" y="1781175"/>
            <a:ext cx="2428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66E0EA"/>
                </a:solidFill>
                <a:latin typeface="Arial"/>
                <a:ea typeface="Arial"/>
                <a:cs typeface="Arial"/>
              </a:defRPr>
            </a:pPr>
            <a:r>
              <a:rPr sz="2025" b="1">
                <a:solidFill>
                  <a:srgbClr val="66E0EA"/>
                </a:solidFill>
                <a:latin typeface="Arial"/>
                <a:ea typeface="Arial"/>
                <a:cs typeface="Arial"/>
              </a:rPr>
              <a:t>00:00–00:20</a:t>
            </a:r>
          </a:p>
        </p:txBody>
      </p:sp>
      <p:sp>
        <p:nvSpPr>
          <p:cNvPr id="4" name="">
            <a:extLst xmlns:a="http://schemas.openxmlformats.org/drawingml/2006/main">
              <a:ext uri="{FF2B5EF4-FFF2-40B4-BE49-F238E27FC236}">
                <a16:creationId xmlns:a16="http://schemas.microsoft.com/office/drawing/2014/main" id="{40F15DD7-70ED-45C7-8621-A5BD79FC0087}"/>
              </a:ext>
            </a:extLst>
          </p:cNvPr>
          <p:cNvSpPr>
            <a:spLocks xmlns:a="http://schemas.openxmlformats.org/drawingml/2006/main" noGrp="1"/>
          </p:cNvSpPr>
          <p:nvPr/>
        </p:nvSpPr>
        <p:spPr>
          <a:xfrm xmlns:a="http://schemas.openxmlformats.org/drawingml/2006/main">
            <a:off x="3286125" y="1781175"/>
            <a:ext cx="7810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3F7FA"/>
                </a:solidFill>
                <a:latin typeface="Arial"/>
                <a:ea typeface="Arial"/>
                <a:cs typeface="Arial"/>
              </a:defRPr>
            </a:pPr>
            <a:r>
              <a:rPr sz="2250" b="0">
                <a:solidFill>
                  <a:srgbClr val="F3F7FA"/>
                </a:solidFill>
                <a:latin typeface="Arial"/>
                <a:ea typeface="Arial"/>
                <a:cs typeface="Arial"/>
              </a:rPr>
              <a:t>Case aur source records</a:t>
            </a:r>
          </a:p>
        </p:txBody>
      </p:sp>
      <p:sp>
        <p:nvSpPr>
          <p:cNvPr id="5" name="">
            <a:extLst xmlns:a="http://schemas.openxmlformats.org/drawingml/2006/main">
              <a:ext uri="{FF2B5EF4-FFF2-40B4-BE49-F238E27FC236}">
                <a16:creationId xmlns:a16="http://schemas.microsoft.com/office/drawing/2014/main" id="{3B92361B-EB3C-4A63-81D0-7BD91CF8F13C}"/>
              </a:ext>
            </a:extLst>
          </p:cNvPr>
          <p:cNvSpPr>
            <a:spLocks xmlns:a="http://schemas.openxmlformats.org/drawingml/2006/main" noGrp="1"/>
          </p:cNvSpPr>
          <p:nvPr/>
        </p:nvSpPr>
        <p:spPr>
          <a:xfrm xmlns:a="http://schemas.openxmlformats.org/drawingml/2006/main">
            <a:off x="609600" y="2571750"/>
            <a:ext cx="2428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66E0EA"/>
                </a:solidFill>
                <a:latin typeface="Arial"/>
                <a:ea typeface="Arial"/>
                <a:cs typeface="Arial"/>
              </a:defRPr>
            </a:pPr>
            <a:r>
              <a:rPr sz="2025" b="1">
                <a:solidFill>
                  <a:srgbClr val="66E0EA"/>
                </a:solidFill>
                <a:latin typeface="Arial"/>
                <a:ea typeface="Arial"/>
                <a:cs typeface="Arial"/>
              </a:rPr>
              <a:t>00:20–00:50</a:t>
            </a:r>
          </a:p>
        </p:txBody>
      </p:sp>
      <p:sp>
        <p:nvSpPr>
          <p:cNvPr id="6" name="">
            <a:extLst xmlns:a="http://schemas.openxmlformats.org/drawingml/2006/main">
              <a:ext uri="{FF2B5EF4-FFF2-40B4-BE49-F238E27FC236}">
                <a16:creationId xmlns:a16="http://schemas.microsoft.com/office/drawing/2014/main" id="{C1ADAD0D-84E4-46D1-B296-5C60F032D039}"/>
              </a:ext>
            </a:extLst>
          </p:cNvPr>
          <p:cNvSpPr>
            <a:spLocks xmlns:a="http://schemas.openxmlformats.org/drawingml/2006/main" noGrp="1"/>
          </p:cNvSpPr>
          <p:nvPr/>
        </p:nvSpPr>
        <p:spPr>
          <a:xfrm xmlns:a="http://schemas.openxmlformats.org/drawingml/2006/main">
            <a:off x="3286125" y="2571750"/>
            <a:ext cx="7810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3F7FA"/>
                </a:solidFill>
                <a:latin typeface="Arial"/>
                <a:ea typeface="Arial"/>
                <a:cs typeface="Arial"/>
              </a:defRPr>
            </a:pPr>
            <a:r>
              <a:rPr sz="2250" b="0">
                <a:solidFill>
                  <a:srgbClr val="F3F7FA"/>
                </a:solidFill>
                <a:latin typeface="Arial"/>
                <a:ea typeface="Arial"/>
                <a:cs typeface="Arial"/>
              </a:rPr>
              <a:t>Identity match ka human review</a:t>
            </a:r>
          </a:p>
        </p:txBody>
      </p:sp>
      <p:sp>
        <p:nvSpPr>
          <p:cNvPr id="7" name="">
            <a:extLst xmlns:a="http://schemas.openxmlformats.org/drawingml/2006/main">
              <a:ext uri="{FF2B5EF4-FFF2-40B4-BE49-F238E27FC236}">
                <a16:creationId xmlns:a16="http://schemas.microsoft.com/office/drawing/2014/main" id="{517096D6-28DD-4AA3-8574-D5685F54C047}"/>
              </a:ext>
            </a:extLst>
          </p:cNvPr>
          <p:cNvSpPr>
            <a:spLocks xmlns:a="http://schemas.openxmlformats.org/drawingml/2006/main" noGrp="1"/>
          </p:cNvSpPr>
          <p:nvPr/>
        </p:nvSpPr>
        <p:spPr>
          <a:xfrm xmlns:a="http://schemas.openxmlformats.org/drawingml/2006/main">
            <a:off x="609600" y="3362325"/>
            <a:ext cx="2428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66E0EA"/>
                </a:solidFill>
                <a:latin typeface="Arial"/>
                <a:ea typeface="Arial"/>
                <a:cs typeface="Arial"/>
              </a:defRPr>
            </a:pPr>
            <a:r>
              <a:rPr sz="2025" b="1">
                <a:solidFill>
                  <a:srgbClr val="66E0EA"/>
                </a:solidFill>
                <a:latin typeface="Arial"/>
                <a:ea typeface="Arial"/>
                <a:cs typeface="Arial"/>
              </a:rPr>
              <a:t>00:50–01:15</a:t>
            </a:r>
          </a:p>
        </p:txBody>
      </p:sp>
      <p:sp>
        <p:nvSpPr>
          <p:cNvPr id="8" name="">
            <a:extLst xmlns:a="http://schemas.openxmlformats.org/drawingml/2006/main">
              <a:ext uri="{FF2B5EF4-FFF2-40B4-BE49-F238E27FC236}">
                <a16:creationId xmlns:a16="http://schemas.microsoft.com/office/drawing/2014/main" id="{48304F4B-10F6-4216-8BE8-3C2062F534B6}"/>
              </a:ext>
            </a:extLst>
          </p:cNvPr>
          <p:cNvSpPr>
            <a:spLocks xmlns:a="http://schemas.openxmlformats.org/drawingml/2006/main" noGrp="1"/>
          </p:cNvSpPr>
          <p:nvPr/>
        </p:nvSpPr>
        <p:spPr>
          <a:xfrm xmlns:a="http://schemas.openxmlformats.org/drawingml/2006/main">
            <a:off x="3286125" y="3362325"/>
            <a:ext cx="7810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3F7FA"/>
                </a:solidFill>
                <a:latin typeface="Arial"/>
                <a:ea typeface="Arial"/>
                <a:cs typeface="Arial"/>
              </a:defRPr>
            </a:pPr>
            <a:r>
              <a:rPr sz="2250" b="0">
                <a:solidFill>
                  <a:srgbClr val="F3F7FA"/>
                </a:solidFill>
                <a:latin typeface="Arial"/>
                <a:ea typeface="Arial"/>
                <a:cs typeface="Arial"/>
              </a:rPr>
              <a:t>Rahul–Vikram path</a:t>
            </a:r>
          </a:p>
        </p:txBody>
      </p:sp>
      <p:sp>
        <p:nvSpPr>
          <p:cNvPr id="9" name="">
            <a:extLst xmlns:a="http://schemas.openxmlformats.org/drawingml/2006/main">
              <a:ext uri="{FF2B5EF4-FFF2-40B4-BE49-F238E27FC236}">
                <a16:creationId xmlns:a16="http://schemas.microsoft.com/office/drawing/2014/main" id="{02DB1629-D597-4E20-8F5F-E31B67A82BAB}"/>
              </a:ext>
            </a:extLst>
          </p:cNvPr>
          <p:cNvSpPr>
            <a:spLocks xmlns:a="http://schemas.openxmlformats.org/drawingml/2006/main" noGrp="1"/>
          </p:cNvSpPr>
          <p:nvPr/>
        </p:nvSpPr>
        <p:spPr>
          <a:xfrm xmlns:a="http://schemas.openxmlformats.org/drawingml/2006/main">
            <a:off x="609600" y="4152900"/>
            <a:ext cx="2428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66E0EA"/>
                </a:solidFill>
                <a:latin typeface="Arial"/>
                <a:ea typeface="Arial"/>
                <a:cs typeface="Arial"/>
              </a:defRPr>
            </a:pPr>
            <a:r>
              <a:rPr sz="2025" b="1">
                <a:solidFill>
                  <a:srgbClr val="66E0EA"/>
                </a:solidFill>
                <a:latin typeface="Arial"/>
                <a:ea typeface="Arial"/>
                <a:cs typeface="Arial"/>
              </a:rPr>
              <a:t>01:15–02:00</a:t>
            </a:r>
          </a:p>
        </p:txBody>
      </p:sp>
      <p:sp>
        <p:nvSpPr>
          <p:cNvPr id="10" name="">
            <a:extLst xmlns:a="http://schemas.openxmlformats.org/drawingml/2006/main">
              <a:ext uri="{FF2B5EF4-FFF2-40B4-BE49-F238E27FC236}">
                <a16:creationId xmlns:a16="http://schemas.microsoft.com/office/drawing/2014/main" id="{74BA9A82-E7FE-443E-BBE6-C5C1F67D4FED}"/>
              </a:ext>
            </a:extLst>
          </p:cNvPr>
          <p:cNvSpPr>
            <a:spLocks xmlns:a="http://schemas.openxmlformats.org/drawingml/2006/main" noGrp="1"/>
          </p:cNvSpPr>
          <p:nvPr/>
        </p:nvSpPr>
        <p:spPr>
          <a:xfrm xmlns:a="http://schemas.openxmlformats.org/drawingml/2006/main">
            <a:off x="3286125" y="4152900"/>
            <a:ext cx="7810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3F7FA"/>
                </a:solidFill>
                <a:latin typeface="Arial"/>
                <a:ea typeface="Arial"/>
                <a:cs typeface="Arial"/>
              </a:defRPr>
            </a:pPr>
            <a:r>
              <a:rPr sz="2250" b="0">
                <a:solidFill>
                  <a:srgbClr val="F3F7FA"/>
                </a:solidFill>
                <a:latin typeface="Arial"/>
                <a:ea typeface="Arial"/>
                <a:cs typeface="Arial"/>
              </a:rPr>
              <a:t>Lead 17 aur exact evidence</a:t>
            </a:r>
          </a:p>
        </p:txBody>
      </p:sp>
      <p:sp>
        <p:nvSpPr>
          <p:cNvPr id="11" name="">
            <a:extLst xmlns:a="http://schemas.openxmlformats.org/drawingml/2006/main">
              <a:ext uri="{FF2B5EF4-FFF2-40B4-BE49-F238E27FC236}">
                <a16:creationId xmlns:a16="http://schemas.microsoft.com/office/drawing/2014/main" id="{F85AB44A-D8A7-49A2-A4FE-357E4F1B9903}"/>
              </a:ext>
            </a:extLst>
          </p:cNvPr>
          <p:cNvSpPr>
            <a:spLocks xmlns:a="http://schemas.openxmlformats.org/drawingml/2006/main" noGrp="1"/>
          </p:cNvSpPr>
          <p:nvPr/>
        </p:nvSpPr>
        <p:spPr>
          <a:xfrm xmlns:a="http://schemas.openxmlformats.org/drawingml/2006/main">
            <a:off x="609600" y="4943475"/>
            <a:ext cx="2428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66E0EA"/>
                </a:solidFill>
                <a:latin typeface="Arial"/>
                <a:ea typeface="Arial"/>
                <a:cs typeface="Arial"/>
              </a:defRPr>
            </a:pPr>
            <a:r>
              <a:rPr sz="2025" b="1">
                <a:solidFill>
                  <a:srgbClr val="66E0EA"/>
                </a:solidFill>
                <a:latin typeface="Arial"/>
                <a:ea typeface="Arial"/>
                <a:cs typeface="Arial"/>
              </a:rPr>
              <a:t>02:00–02:30</a:t>
            </a:r>
          </a:p>
        </p:txBody>
      </p:sp>
      <p:sp>
        <p:nvSpPr>
          <p:cNvPr id="12" name="">
            <a:extLst xmlns:a="http://schemas.openxmlformats.org/drawingml/2006/main">
              <a:ext uri="{FF2B5EF4-FFF2-40B4-BE49-F238E27FC236}">
                <a16:creationId xmlns:a16="http://schemas.microsoft.com/office/drawing/2014/main" id="{CD7D85CB-942B-4D20-868E-05BF86128195}"/>
              </a:ext>
            </a:extLst>
          </p:cNvPr>
          <p:cNvSpPr>
            <a:spLocks xmlns:a="http://schemas.openxmlformats.org/drawingml/2006/main" noGrp="1"/>
          </p:cNvSpPr>
          <p:nvPr/>
        </p:nvSpPr>
        <p:spPr>
          <a:xfrm xmlns:a="http://schemas.openxmlformats.org/drawingml/2006/main">
            <a:off x="3286125" y="4943475"/>
            <a:ext cx="7810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F3F7FA"/>
                </a:solidFill>
                <a:latin typeface="Arial"/>
                <a:ea typeface="Arial"/>
                <a:cs typeface="Arial"/>
              </a:defRPr>
            </a:pPr>
            <a:r>
              <a:rPr sz="2250" b="0">
                <a:solidFill>
                  <a:srgbClr val="F3F7FA"/>
                </a:solidFill>
                <a:latin typeface="Arial"/>
                <a:ea typeface="Arial"/>
                <a:cs typeface="Arial"/>
              </a:rPr>
              <a:t>Review decision aur audit trail</a:t>
            </a:r>
          </a:p>
        </p:txBody>
      </p:sp>
      <p:sp>
        <p:nvSpPr>
          <p:cNvPr id="13" name="">
            <a:extLst xmlns:a="http://schemas.openxmlformats.org/drawingml/2006/main">
              <a:ext uri="{FF2B5EF4-FFF2-40B4-BE49-F238E27FC236}">
                <a16:creationId xmlns:a16="http://schemas.microsoft.com/office/drawing/2014/main" id="{9109F609-21AC-46D4-BC79-62C816272D13}"/>
              </a:ext>
            </a:extLst>
          </p:cNvPr>
          <p:cNvSpPr>
            <a:spLocks xmlns:a="http://schemas.openxmlformats.org/drawingml/2006/main" noGrp="1"/>
          </p:cNvSpPr>
          <p:nvPr/>
        </p:nvSpPr>
        <p:spPr>
          <a:xfrm xmlns:a="http://schemas.openxmlformats.org/drawingml/2006/main">
            <a:off x="609600" y="600075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2C2D0"/>
                </a:solidFill>
                <a:latin typeface="Arial"/>
                <a:ea typeface="Arial"/>
                <a:cs typeface="Arial"/>
              </a:defRPr>
            </a:pPr>
            <a:r>
              <a:rPr sz="1575" b="0">
                <a:solidFill>
                  <a:srgbClr val="B2C2D0"/>
                </a:solidFill>
                <a:latin typeface="Arial"/>
                <a:ea typeface="Arial"/>
                <a:cs typeface="Arial"/>
              </a:rPr>
              <a:t>Demo target: 2:30. Local workspace primary, captured run backup.</a:t>
            </a:r>
          </a:p>
        </p:txBody>
      </p:sp>
    </p:spTree>
    <p:extLst>
      <p:ext uri="{BB962C8B-B14F-4D97-AF65-F5344CB8AC3E}">
        <p14:creationId xmlns:p14="http://schemas.microsoft.com/office/powerpoint/2010/main" val="1926828747"/>
      </p:ext>
    </p:extLst>
  </p:cSld>
</p:sld>
</file>

<file path=ppt/slides/slide7.xml><?xml version="1.0" encoding="utf-8"?>
<p:sld xmlns:p="http://schemas.openxmlformats.org/presentationml/2006/main">
  <p:cSld>
    <p:bg>
      <p:bgPr>
        <a:solidFill xmlns:a="http://schemas.openxmlformats.org/drawingml/2006/main">
          <a:srgbClr val="09121D"/>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F450649-B297-4714-903B-A7437FC7EDD8}"/>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7FA"/>
                </a:solidFill>
                <a:latin typeface="Arial"/>
                <a:ea typeface="Arial"/>
                <a:cs typeface="Arial"/>
              </a:defRPr>
            </a:pPr>
            <a:r>
              <a:rPr sz="3300" b="1">
                <a:solidFill>
                  <a:srgbClr val="F3F7FA"/>
                </a:solidFill>
                <a:latin typeface="Arial"/>
                <a:ea typeface="Arial"/>
                <a:cs typeface="Arial"/>
              </a:rPr>
              <a:t>Prototype proof aur current boundaries</a:t>
            </a:r>
          </a:p>
        </p:txBody>
      </p:sp>
      <p:sp>
        <p:nvSpPr>
          <p:cNvPr id="2" name="">
            <a:extLst xmlns:a="http://schemas.openxmlformats.org/drawingml/2006/main">
              <a:ext uri="{FF2B5EF4-FFF2-40B4-BE49-F238E27FC236}">
                <a16:creationId xmlns:a16="http://schemas.microsoft.com/office/drawing/2014/main" id="{464FB51C-6F08-4F85-9533-0CCD4E7E3883}"/>
              </a:ext>
            </a:extLst>
          </p:cNvPr>
          <p:cNvSpPr>
            <a:spLocks xmlns:a="http://schemas.openxmlformats.org/drawingml/2006/main" noGrp="1"/>
          </p:cNvSpPr>
          <p:nvPr/>
        </p:nvSpPr>
        <p:spPr>
          <a:xfrm xmlns:a="http://schemas.openxmlformats.org/drawingml/2006/main">
            <a:off x="11049000" y="63722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2C2D0"/>
                </a:solidFill>
                <a:latin typeface="Arial"/>
                <a:ea typeface="Arial"/>
                <a:cs typeface="Arial"/>
              </a:defRPr>
            </a:pPr>
            <a:r>
              <a:rPr sz="1200" b="0">
                <a:solidFill>
                  <a:srgbClr val="B2C2D0"/>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F44CE40C-1595-4399-BD50-9EB926E2B021}"/>
              </a:ext>
            </a:extLst>
          </p:cNvPr>
          <p:cNvSpPr>
            <a:spLocks xmlns:a="http://schemas.openxmlformats.org/drawingml/2006/main" noGrp="1"/>
          </p:cNvSpPr>
          <p:nvPr/>
        </p:nvSpPr>
        <p:spPr>
          <a:xfrm xmlns:a="http://schemas.openxmlformats.org/drawingml/2006/main">
            <a:off x="609600" y="1762125"/>
            <a:ext cx="5048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900" b="1">
                <a:solidFill>
                  <a:srgbClr val="66E0EA"/>
                </a:solidFill>
                <a:latin typeface="Arial"/>
                <a:ea typeface="Arial"/>
                <a:cs typeface="Arial"/>
              </a:defRPr>
            </a:pPr>
            <a:r>
              <a:rPr sz="6900" b="1">
                <a:solidFill>
                  <a:srgbClr val="66E0EA"/>
                </a:solidFill>
                <a:latin typeface="Arial"/>
                <a:ea typeface="Arial"/>
                <a:cs typeface="Arial"/>
              </a:rPr>
              <a:t>101</a:t>
            </a:r>
          </a:p>
        </p:txBody>
      </p:sp>
      <p:sp>
        <p:nvSpPr>
          <p:cNvPr id="4" name="">
            <a:extLst xmlns:a="http://schemas.openxmlformats.org/drawingml/2006/main">
              <a:ext uri="{FF2B5EF4-FFF2-40B4-BE49-F238E27FC236}">
                <a16:creationId xmlns:a16="http://schemas.microsoft.com/office/drawing/2014/main" id="{C93BDAF0-479E-4A32-B3EA-17ED206269A2}"/>
              </a:ext>
            </a:extLst>
          </p:cNvPr>
          <p:cNvSpPr>
            <a:spLocks xmlns:a="http://schemas.openxmlformats.org/drawingml/2006/main" noGrp="1"/>
          </p:cNvSpPr>
          <p:nvPr/>
        </p:nvSpPr>
        <p:spPr>
          <a:xfrm xmlns:a="http://schemas.openxmlformats.org/drawingml/2006/main">
            <a:off x="609600" y="300037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3F7FA"/>
                </a:solidFill>
                <a:latin typeface="Arial"/>
                <a:ea typeface="Arial"/>
                <a:cs typeface="Arial"/>
              </a:defRPr>
            </a:pPr>
            <a:r>
              <a:rPr sz="2250" b="1">
                <a:solidFill>
                  <a:srgbClr val="F3F7FA"/>
                </a:solidFill>
                <a:latin typeface="Arial"/>
                <a:ea typeface="Arial"/>
                <a:cs typeface="Arial"/>
              </a:rPr>
              <a:t>Backend tests passed</a:t>
            </a:r>
          </a:p>
        </p:txBody>
      </p:sp>
      <p:sp>
        <p:nvSpPr>
          <p:cNvPr id="5" name="">
            <a:extLst xmlns:a="http://schemas.openxmlformats.org/drawingml/2006/main">
              <a:ext uri="{FF2B5EF4-FFF2-40B4-BE49-F238E27FC236}">
                <a16:creationId xmlns:a16="http://schemas.microsoft.com/office/drawing/2014/main" id="{2794B182-A6F4-4BCC-A631-C3BF41AA5F60}"/>
              </a:ext>
            </a:extLst>
          </p:cNvPr>
          <p:cNvSpPr>
            <a:spLocks xmlns:a="http://schemas.openxmlformats.org/drawingml/2006/main" noGrp="1"/>
          </p:cNvSpPr>
          <p:nvPr/>
        </p:nvSpPr>
        <p:spPr>
          <a:xfrm xmlns:a="http://schemas.openxmlformats.org/drawingml/2006/main">
            <a:off x="609600" y="3695700"/>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2C2D0"/>
                </a:solidFill>
                <a:latin typeface="Arial"/>
                <a:ea typeface="Arial"/>
                <a:cs typeface="Arial"/>
              </a:defRPr>
            </a:pPr>
            <a:r>
              <a:rPr sz="2025" b="0">
                <a:solidFill>
                  <a:srgbClr val="B2C2D0"/>
                </a:solidFill>
                <a:latin typeface="Arial"/>
                <a:ea typeface="Arial"/>
                <a:cs typeface="Arial"/>
              </a:rPr>
              <a:t>Synthetic inputs par implementation checks</a:t>
            </a:r>
          </a:p>
          <a:p xmlns:a="http://schemas.openxmlformats.org/drawingml/2006/main">
            <a:pPr>
              <a:defRPr sz="2025" b="0">
                <a:solidFill>
                  <a:srgbClr val="B2C2D0"/>
                </a:solidFill>
                <a:latin typeface="Arial"/>
                <a:ea typeface="Arial"/>
                <a:cs typeface="Arial"/>
              </a:defRPr>
            </a:pPr>
            <a:r>
              <a:rPr sz="2025" b="0">
                <a:solidFill>
                  <a:srgbClr val="B2C2D0"/>
                </a:solidFill>
                <a:latin typeface="Arial"/>
                <a:ea typeface="Arial"/>
                <a:cs typeface="Arial"/>
              </a:rPr>
              <a:t>Real-world accuracy abhi measure nahi hui</a:t>
            </a:r>
          </a:p>
        </p:txBody>
      </p:sp>
      <p:sp>
        <p:nvSpPr>
          <p:cNvPr id="6" name="">
            <a:extLst xmlns:a="http://schemas.openxmlformats.org/drawingml/2006/main">
              <a:ext uri="{FF2B5EF4-FFF2-40B4-BE49-F238E27FC236}">
                <a16:creationId xmlns:a16="http://schemas.microsoft.com/office/drawing/2014/main" id="{DCBBBD49-A011-444B-90A8-23DCB9D4F8A4}"/>
              </a:ext>
            </a:extLst>
          </p:cNvPr>
          <p:cNvSpPr>
            <a:spLocks xmlns:a="http://schemas.openxmlformats.org/drawingml/2006/main" noGrp="1"/>
          </p:cNvSpPr>
          <p:nvPr/>
        </p:nvSpPr>
        <p:spPr>
          <a:xfrm xmlns:a="http://schemas.openxmlformats.org/drawingml/2006/main">
            <a:off x="609600" y="5314950"/>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3F7FA"/>
                </a:solidFill>
                <a:latin typeface="Arial"/>
                <a:ea typeface="Arial"/>
                <a:cs typeface="Arial"/>
              </a:defRPr>
            </a:pPr>
            <a:r>
              <a:rPr sz="1950" b="1">
                <a:solidFill>
                  <a:srgbClr val="F3F7FA"/>
                </a:solidFill>
                <a:latin typeface="Arial"/>
                <a:ea typeface="Arial"/>
                <a:cs typeface="Arial"/>
              </a:rPr>
              <a:t>Public prototype available</a:t>
            </a:r>
          </a:p>
        </p:txBody>
      </p:sp>
      <p:sp>
        <p:nvSpPr>
          <p:cNvPr id="7" name="">
            <a:extLst xmlns:a="http://schemas.openxmlformats.org/drawingml/2006/main">
              <a:ext uri="{FF2B5EF4-FFF2-40B4-BE49-F238E27FC236}">
                <a16:creationId xmlns:a16="http://schemas.microsoft.com/office/drawing/2014/main" id="{963B66A8-367B-4FB0-9DC0-20FBAFA6F7B6}"/>
              </a:ext>
            </a:extLst>
          </p:cNvPr>
          <p:cNvSpPr>
            <a:spLocks xmlns:a="http://schemas.openxmlformats.org/drawingml/2006/main" noGrp="1"/>
          </p:cNvSpPr>
          <p:nvPr/>
        </p:nvSpPr>
        <p:spPr>
          <a:xfrm xmlns:a="http://schemas.openxmlformats.org/drawingml/2006/main">
            <a:off x="6667500" y="180975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2CC88"/>
                </a:solidFill>
                <a:latin typeface="Arial"/>
                <a:ea typeface="Arial"/>
                <a:cs typeface="Arial"/>
              </a:defRPr>
            </a:pPr>
            <a:r>
              <a:rPr sz="2550" b="1">
                <a:solidFill>
                  <a:srgbClr val="F2CC88"/>
                </a:solidFill>
                <a:latin typeface="Arial"/>
                <a:ea typeface="Arial"/>
                <a:cs typeface="Arial"/>
              </a:rPr>
              <a:t>Production se pehle</a:t>
            </a:r>
          </a:p>
        </p:txBody>
      </p:sp>
      <p:sp>
        <p:nvSpPr>
          <p:cNvPr id="8" name="">
            <a:extLst xmlns:a="http://schemas.openxmlformats.org/drawingml/2006/main">
              <a:ext uri="{FF2B5EF4-FFF2-40B4-BE49-F238E27FC236}">
                <a16:creationId xmlns:a16="http://schemas.microsoft.com/office/drawing/2014/main" id="{68BA1585-78AA-42BF-84D2-DC22B73DDBA1}"/>
              </a:ext>
            </a:extLst>
          </p:cNvPr>
          <p:cNvSpPr>
            <a:spLocks xmlns:a="http://schemas.openxmlformats.org/drawingml/2006/main" noGrp="1"/>
          </p:cNvSpPr>
          <p:nvPr/>
        </p:nvSpPr>
        <p:spPr>
          <a:xfrm xmlns:a="http://schemas.openxmlformats.org/drawingml/2006/main">
            <a:off x="6667500" y="2667000"/>
            <a:ext cx="4810125"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B2C2D0"/>
                </a:solidFill>
                <a:latin typeface="Arial"/>
                <a:ea typeface="Arial"/>
                <a:cs typeface="Arial"/>
              </a:defRPr>
            </a:pPr>
            <a:r>
              <a:rPr sz="2175" b="0">
                <a:solidFill>
                  <a:srgbClr val="B2C2D0"/>
                </a:solidFill>
                <a:latin typeface="Arial"/>
                <a:ea typeface="Arial"/>
                <a:cs typeface="Arial"/>
              </a:rPr>
              <a:t>Durable hosted storage</a:t>
            </a:r>
          </a:p>
          <a:p xmlns:a="http://schemas.openxmlformats.org/drawingml/2006/main">
            <a:pPr>
              <a:defRPr sz="2175" b="0">
                <a:solidFill>
                  <a:srgbClr val="B2C2D0"/>
                </a:solidFill>
                <a:latin typeface="Arial"/>
                <a:ea typeface="Arial"/>
                <a:cs typeface="Arial"/>
              </a:defRPr>
            </a:pPr>
            <a:r>
              <a:rPr sz="2175" b="0">
                <a:solidFill>
                  <a:srgbClr val="B2C2D0"/>
                </a:solidFill>
                <a:latin typeface="Arial"/>
                <a:ea typeface="Arial"/>
                <a:cs typeface="Arial"/>
              </a:rPr>
              <a:t>Authenticated reviewers</a:t>
            </a:r>
          </a:p>
          <a:p xmlns:a="http://schemas.openxmlformats.org/drawingml/2006/main">
            <a:pPr>
              <a:defRPr sz="2175" b="0">
                <a:solidFill>
                  <a:srgbClr val="B2C2D0"/>
                </a:solidFill>
                <a:latin typeface="Arial"/>
                <a:ea typeface="Arial"/>
                <a:cs typeface="Arial"/>
              </a:defRPr>
            </a:pPr>
            <a:r>
              <a:rPr sz="2175" b="0">
                <a:solidFill>
                  <a:srgbClr val="B2C2D0"/>
                </a:solidFill>
                <a:latin typeface="Arial"/>
                <a:ea typeface="Arial"/>
                <a:cs typeface="Arial"/>
              </a:rPr>
              <a:t>Case-level access controls</a:t>
            </a:r>
          </a:p>
          <a:p xmlns:a="http://schemas.openxmlformats.org/drawingml/2006/main">
            <a:pPr>
              <a:defRPr sz="2175" b="0">
                <a:solidFill>
                  <a:srgbClr val="B2C2D0"/>
                </a:solidFill>
                <a:latin typeface="Arial"/>
                <a:ea typeface="Arial"/>
                <a:cs typeface="Arial"/>
              </a:defRPr>
            </a:pPr>
            <a:r>
              <a:rPr sz="2175" b="0">
                <a:solidFill>
                  <a:srgbClr val="B2C2D0"/>
                </a:solidFill>
                <a:latin typeface="Arial"/>
                <a:ea typeface="Arial"/>
                <a:cs typeface="Arial"/>
              </a:rPr>
              <a:t>Representative evaluation</a:t>
            </a:r>
          </a:p>
          <a:p xmlns:a="http://schemas.openxmlformats.org/drawingml/2006/main">
            <a:pPr>
              <a:defRPr sz="2175" b="0">
                <a:solidFill>
                  <a:srgbClr val="B2C2D0"/>
                </a:solidFill>
                <a:latin typeface="Arial"/>
                <a:ea typeface="Arial"/>
                <a:cs typeface="Arial"/>
              </a:defRPr>
            </a:pPr>
            <a:r>
              <a:rPr sz="2175" b="0">
                <a:solidFill>
                  <a:srgbClr val="B2C2D0"/>
                </a:solidFill>
                <a:latin typeface="Arial"/>
                <a:ea typeface="Arial"/>
                <a:cs typeface="Arial"/>
              </a:rPr>
              <a:t>Influential-node ranking validation</a:t>
            </a:r>
          </a:p>
        </p:txBody>
      </p:sp>
      <p:sp>
        <p:nvSpPr>
          <p:cNvPr id="9" name="">
            <a:extLst xmlns:a="http://schemas.openxmlformats.org/drawingml/2006/main">
              <a:ext uri="{FF2B5EF4-FFF2-40B4-BE49-F238E27FC236}">
                <a16:creationId xmlns:a16="http://schemas.microsoft.com/office/drawing/2014/main" id="{622D4735-97A6-4D1F-9236-845A64C9BF3E}"/>
              </a:ext>
            </a:extLst>
          </p:cNvPr>
          <p:cNvSpPr>
            <a:spLocks xmlns:a="http://schemas.openxmlformats.org/drawingml/2006/main" noGrp="1"/>
          </p:cNvSpPr>
          <p:nvPr/>
        </p:nvSpPr>
        <p:spPr>
          <a:xfrm xmlns:a="http://schemas.openxmlformats.org/drawingml/2006/main">
            <a:off x="609600" y="6076950"/>
            <a:ext cx="1000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2C2D0"/>
                </a:solidFill>
                <a:latin typeface="Arial"/>
                <a:ea typeface="Arial"/>
                <a:cs typeface="Arial"/>
              </a:defRPr>
            </a:pPr>
            <a:r>
              <a:rPr sz="1350" b="0">
                <a:solidFill>
                  <a:srgbClr val="B2C2D0"/>
                </a:solidFill>
                <a:latin typeface="Arial"/>
                <a:ea typeface="Arial"/>
                <a:cs typeface="Arial"/>
              </a:rPr>
              <a:t>Test run: 6 Sep 2026. 2 dependency warnings.</a:t>
            </a:r>
          </a:p>
        </p:txBody>
      </p:sp>
    </p:spTree>
    <p:extLst>
      <p:ext uri="{BB962C8B-B14F-4D97-AF65-F5344CB8AC3E}">
        <p14:creationId xmlns:p14="http://schemas.microsoft.com/office/powerpoint/2010/main" val="589863911"/>
      </p:ext>
    </p:extLst>
  </p:cSld>
</p:sld>
</file>

<file path=ppt/slides/slide8.xml><?xml version="1.0" encoding="utf-8"?>
<p:sld xmlns:p="http://schemas.openxmlformats.org/presentationml/2006/main">
  <p:cSld>
    <p:bg>
      <p:bgPr>
        <a:solidFill xmlns:a="http://schemas.openxmlformats.org/drawingml/2006/main">
          <a:srgbClr val="09121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26EB8AE-19C9-4E5C-AECF-E443F41D17F7}"/>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7FA"/>
                </a:solidFill>
                <a:latin typeface="Arial"/>
                <a:ea typeface="Arial"/>
                <a:cs typeface="Arial"/>
              </a:defRPr>
            </a:pPr>
            <a:r>
              <a:rPr sz="3300" b="1">
                <a:solidFill>
                  <a:srgbClr val="F3F7FA"/>
                </a:solidFill>
                <a:latin typeface="Arial"/>
                <a:ea typeface="Arial"/>
                <a:cs typeface="Arial"/>
              </a:rPr>
              <a:t>Selection ke baad agla milestone</a:t>
            </a:r>
          </a:p>
        </p:txBody>
      </p:sp>
      <p:sp>
        <p:nvSpPr>
          <p:cNvPr id="2" name="">
            <a:extLst xmlns:a="http://schemas.openxmlformats.org/drawingml/2006/main">
              <a:ext uri="{FF2B5EF4-FFF2-40B4-BE49-F238E27FC236}">
                <a16:creationId xmlns:a16="http://schemas.microsoft.com/office/drawing/2014/main" id="{90FF71FD-F943-4A8B-9E3F-2BB30B9BD774}"/>
              </a:ext>
            </a:extLst>
          </p:cNvPr>
          <p:cNvSpPr>
            <a:spLocks xmlns:a="http://schemas.openxmlformats.org/drawingml/2006/main" noGrp="1"/>
          </p:cNvSpPr>
          <p:nvPr/>
        </p:nvSpPr>
        <p:spPr>
          <a:xfrm xmlns:a="http://schemas.openxmlformats.org/drawingml/2006/main">
            <a:off x="11049000" y="63722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2C2D0"/>
                </a:solidFill>
                <a:latin typeface="Arial"/>
                <a:ea typeface="Arial"/>
                <a:cs typeface="Arial"/>
              </a:defRPr>
            </a:pPr>
            <a:r>
              <a:rPr sz="1200" b="0">
                <a:solidFill>
                  <a:srgbClr val="B2C2D0"/>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0E5C0E49-5B85-48E7-AFB2-F0C625F9A9BD}"/>
              </a:ext>
            </a:extLst>
          </p:cNvPr>
          <p:cNvSpPr>
            <a:spLocks xmlns:a="http://schemas.openxmlformats.org/drawingml/2006/main" noGrp="1"/>
          </p:cNvSpPr>
          <p:nvPr/>
        </p:nvSpPr>
        <p:spPr>
          <a:xfrm xmlns:a="http://schemas.openxmlformats.org/drawingml/2006/main">
            <a:off x="609600" y="20002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66E0EA"/>
                </a:solidFill>
                <a:latin typeface="Arial"/>
                <a:ea typeface="Arial"/>
                <a:cs typeface="Arial"/>
              </a:defRPr>
            </a:pPr>
            <a:r>
              <a:rPr sz="2925" b="1">
                <a:solidFill>
                  <a:srgbClr val="66E0EA"/>
                </a:solidFill>
                <a:latin typeface="Arial"/>
                <a:ea typeface="Arial"/>
                <a:cs typeface="Arial"/>
              </a:rPr>
              <a:t>Agla measurable proof</a:t>
            </a:r>
          </a:p>
        </p:txBody>
      </p:sp>
      <p:sp>
        <p:nvSpPr>
          <p:cNvPr id="4" name="">
            <a:extLst xmlns:a="http://schemas.openxmlformats.org/drawingml/2006/main">
              <a:ext uri="{FF2B5EF4-FFF2-40B4-BE49-F238E27FC236}">
                <a16:creationId xmlns:a16="http://schemas.microsoft.com/office/drawing/2014/main" id="{1BB2BC61-49C9-4FC0-B0F9-DF13B98306E0}"/>
              </a:ext>
            </a:extLst>
          </p:cNvPr>
          <p:cNvSpPr>
            <a:spLocks xmlns:a="http://schemas.openxmlformats.org/drawingml/2006/main" noGrp="1"/>
          </p:cNvSpPr>
          <p:nvPr/>
        </p:nvSpPr>
        <p:spPr>
          <a:xfrm xmlns:a="http://schemas.openxmlformats.org/drawingml/2006/main">
            <a:off x="609600" y="279082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F3F7FA"/>
                </a:solidFill>
                <a:latin typeface="Arial"/>
                <a:ea typeface="Arial"/>
                <a:cs typeface="Arial"/>
              </a:defRPr>
            </a:pPr>
            <a:r>
              <a:rPr sz="2625" b="0">
                <a:solidFill>
                  <a:srgbClr val="F3F7FA"/>
                </a:solidFill>
                <a:latin typeface="Arial"/>
                <a:ea typeface="Arial"/>
                <a:cs typeface="Arial"/>
              </a:rPr>
              <a:t>Fresh evaluation cases par entity quality,</a:t>
            </a:r>
          </a:p>
          <a:p xmlns:a="http://schemas.openxmlformats.org/drawingml/2006/main">
            <a:pPr>
              <a:defRPr sz="2625" b="0">
                <a:solidFill>
                  <a:srgbClr val="F3F7FA"/>
                </a:solidFill>
                <a:latin typeface="Arial"/>
                <a:ea typeface="Arial"/>
                <a:cs typeface="Arial"/>
              </a:defRPr>
            </a:pPr>
            <a:r>
              <a:rPr sz="2625" b="0">
                <a:solidFill>
                  <a:srgbClr val="F3F7FA"/>
                </a:solidFill>
                <a:latin typeface="Arial"/>
                <a:ea typeface="Arial"/>
                <a:cs typeface="Arial"/>
              </a:rPr>
              <a:t>false merges aur evidence coverage measure karna</a:t>
            </a:r>
          </a:p>
        </p:txBody>
      </p:sp>
      <p:sp>
        <p:nvSpPr>
          <p:cNvPr id="5" name="">
            <a:extLst xmlns:a="http://schemas.openxmlformats.org/drawingml/2006/main">
              <a:ext uri="{FF2B5EF4-FFF2-40B4-BE49-F238E27FC236}">
                <a16:creationId xmlns:a16="http://schemas.microsoft.com/office/drawing/2014/main" id="{B8CE3B87-080A-4798-B140-4FBBB972308F}"/>
              </a:ext>
            </a:extLst>
          </p:cNvPr>
          <p:cNvSpPr>
            <a:spLocks xmlns:a="http://schemas.openxmlformats.org/drawingml/2006/main" noGrp="1"/>
          </p:cNvSpPr>
          <p:nvPr/>
        </p:nvSpPr>
        <p:spPr>
          <a:xfrm xmlns:a="http://schemas.openxmlformats.org/drawingml/2006/main">
            <a:off x="609600" y="441007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6E0EA"/>
                </a:solidFill>
                <a:latin typeface="Arial"/>
                <a:ea typeface="Arial"/>
                <a:cs typeface="Arial"/>
              </a:defRPr>
            </a:pPr>
            <a:r>
              <a:rPr sz="2175" b="1">
                <a:solidFill>
                  <a:srgbClr val="66E0EA"/>
                </a:solidFill>
                <a:latin typeface="Arial"/>
                <a:ea typeface="Arial"/>
                <a:cs typeface="Arial"/>
              </a:rPr>
              <a:t>Pilot ki foundation</a:t>
            </a:r>
          </a:p>
        </p:txBody>
      </p:sp>
      <p:sp>
        <p:nvSpPr>
          <p:cNvPr id="6" name="">
            <a:extLst xmlns:a="http://schemas.openxmlformats.org/drawingml/2006/main">
              <a:ext uri="{FF2B5EF4-FFF2-40B4-BE49-F238E27FC236}">
                <a16:creationId xmlns:a16="http://schemas.microsoft.com/office/drawing/2014/main" id="{34F7899E-7703-4EE1-8DA4-93BE03892DB5}"/>
              </a:ext>
            </a:extLst>
          </p:cNvPr>
          <p:cNvSpPr>
            <a:spLocks xmlns:a="http://schemas.openxmlformats.org/drawingml/2006/main" noGrp="1"/>
          </p:cNvSpPr>
          <p:nvPr/>
        </p:nvSpPr>
        <p:spPr>
          <a:xfrm xmlns:a="http://schemas.openxmlformats.org/drawingml/2006/main">
            <a:off x="609600" y="4972050"/>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B2C2D0"/>
                </a:solidFill>
                <a:latin typeface="Arial"/>
                <a:ea typeface="Arial"/>
                <a:cs typeface="Arial"/>
              </a:defRPr>
            </a:pPr>
            <a:r>
              <a:rPr sz="2175" b="0">
                <a:solidFill>
                  <a:srgbClr val="B2C2D0"/>
                </a:solidFill>
                <a:latin typeface="Arial"/>
                <a:ea typeface="Arial"/>
                <a:cs typeface="Arial"/>
              </a:rPr>
              <a:t>Durable data aur reviewer access</a:t>
            </a:r>
          </a:p>
        </p:txBody>
      </p:sp>
      <p:sp>
        <p:nvSpPr>
          <p:cNvPr id="7" name="">
            <a:extLst xmlns:a="http://schemas.openxmlformats.org/drawingml/2006/main">
              <a:ext uri="{FF2B5EF4-FFF2-40B4-BE49-F238E27FC236}">
                <a16:creationId xmlns:a16="http://schemas.microsoft.com/office/drawing/2014/main" id="{D6BFB373-E6CE-4325-8E1F-B22D261FFF19}"/>
              </a:ext>
            </a:extLst>
          </p:cNvPr>
          <p:cNvSpPr>
            <a:spLocks xmlns:a="http://schemas.openxmlformats.org/drawingml/2006/main" noGrp="1"/>
          </p:cNvSpPr>
          <p:nvPr/>
        </p:nvSpPr>
        <p:spPr>
          <a:xfrm xmlns:a="http://schemas.openxmlformats.org/drawingml/2006/main">
            <a:off x="609600" y="58769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3F7FA"/>
                </a:solidFill>
                <a:latin typeface="Arial"/>
                <a:ea typeface="Arial"/>
                <a:cs typeface="Arial"/>
              </a:defRPr>
            </a:pPr>
            <a:r>
              <a:rPr sz="2250" b="1">
                <a:solidFill>
                  <a:srgbClr val="F3F7FA"/>
                </a:solidFill>
                <a:latin typeface="Arial"/>
                <a:ea typeface="Arial"/>
                <a:cs typeface="Arial"/>
              </a:rPr>
              <a:t>Internal selection + domain mentorship</a:t>
            </a:r>
          </a:p>
        </p:txBody>
      </p:sp>
    </p:spTree>
    <p:extLst>
      <p:ext uri="{BB962C8B-B14F-4D97-AF65-F5344CB8AC3E}">
        <p14:creationId xmlns:p14="http://schemas.microsoft.com/office/powerpoint/2010/main" val="237294527"/>
      </p:ext>
    </p:extLst>
  </p:cSld>
</p:sld>
</file>

<file path=ppt/slides/slide9.xml><?xml version="1.0" encoding="utf-8"?>
<p:sld xmlns:p="http://schemas.openxmlformats.org/presentationml/2006/main">
  <p:cSld>
    <p:bg>
      <p:bgPr>
        <a:solidFill xmlns:a="http://schemas.openxmlformats.org/drawingml/2006/main">
          <a:srgbClr val="09121D"/>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0A84D1F-2D52-4476-ACB0-33AA7AE31867}"/>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7FA"/>
                </a:solidFill>
                <a:latin typeface="Arial"/>
                <a:ea typeface="Arial"/>
                <a:cs typeface="Arial"/>
              </a:defRPr>
            </a:pPr>
            <a:r>
              <a:rPr sz="3300" b="1">
                <a:solidFill>
                  <a:srgbClr val="F3F7FA"/>
                </a:solidFill>
                <a:latin typeface="Arial"/>
                <a:ea typeface="Arial"/>
                <a:cs typeface="Arial"/>
              </a:rPr>
              <a:t>Backup: source ka exact record</a:t>
            </a:r>
          </a:p>
        </p:txBody>
      </p:sp>
      <p:sp>
        <p:nvSpPr>
          <p:cNvPr id="2" name="">
            <a:extLst xmlns:a="http://schemas.openxmlformats.org/drawingml/2006/main">
              <a:ext uri="{FF2B5EF4-FFF2-40B4-BE49-F238E27FC236}">
                <a16:creationId xmlns:a16="http://schemas.microsoft.com/office/drawing/2014/main" id="{F5CD24EE-0162-47E8-87E6-706D15E3331D}"/>
              </a:ext>
            </a:extLst>
          </p:cNvPr>
          <p:cNvSpPr>
            <a:spLocks xmlns:a="http://schemas.openxmlformats.org/drawingml/2006/main" noGrp="1"/>
          </p:cNvSpPr>
          <p:nvPr/>
        </p:nvSpPr>
        <p:spPr>
          <a:xfrm xmlns:a="http://schemas.openxmlformats.org/drawingml/2006/main">
            <a:off x="11049000" y="63722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2C2D0"/>
                </a:solidFill>
                <a:latin typeface="Arial"/>
                <a:ea typeface="Arial"/>
                <a:cs typeface="Arial"/>
              </a:defRPr>
            </a:pPr>
            <a:r>
              <a:rPr sz="1200" b="0">
                <a:solidFill>
                  <a:srgbClr val="B2C2D0"/>
                </a:solidFill>
                <a:latin typeface="Arial"/>
                <a:ea typeface="Arial"/>
                <a:cs typeface="Arial"/>
              </a:rPr>
              <a:t>09</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7b29fc4d03e4be9"/>
          <a:stretch xmlns:a="http://schemas.openxmlformats.org/drawingml/2006/main"/>
        </p:blipFill>
        <p:spPr>
          <a:xfrm xmlns:a="http://schemas.openxmlformats.org/drawingml/2006/main">
            <a:off x="1987662" y="1600200"/>
            <a:ext cx="8216677" cy="4619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10532C5-2AD4-4CAF-B444-406C2835CA15}"/>
              </a:ext>
            </a:extLst>
          </p:cNvPr>
          <p:cNvSpPr>
            <a:spLocks xmlns:a="http://schemas.openxmlformats.org/drawingml/2006/main" noGrp="1"/>
          </p:cNvSpPr>
          <p:nvPr/>
        </p:nvSpPr>
        <p:spPr>
          <a:xfrm xmlns:a="http://schemas.openxmlformats.org/drawingml/2006/main">
            <a:off x="609600" y="6315075"/>
            <a:ext cx="10096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B2C2D0"/>
                </a:solidFill>
                <a:latin typeface="Arial"/>
                <a:ea typeface="Arial"/>
                <a:cs typeface="Arial"/>
              </a:defRPr>
            </a:pPr>
            <a:r>
              <a:rPr sz="1350" b="0">
                <a:solidFill>
                  <a:srgbClr val="B2C2D0"/>
                </a:solidFill>
                <a:latin typeface="Arial"/>
                <a:ea typeface="Arial"/>
                <a:cs typeface="Arial"/>
              </a:rPr>
              <a:t>Pehle captured synthetic run. Exact source locator aur verification state.</a:t>
            </a:r>
          </a:p>
        </p:txBody>
      </p:sp>
    </p:spTree>
    <p:extLst>
      <p:ext uri="{BB962C8B-B14F-4D97-AF65-F5344CB8AC3E}">
        <p14:creationId xmlns:p14="http://schemas.microsoft.com/office/powerpoint/2010/main" val="250183751"/>
      </p:ext>
    </p:extLst>
  </p:cSld>
</p:sld>
</file>

<file path=ppt/slides/slide10.xml><?xml version="1.0" encoding="utf-8"?>
<p:sld xmlns:p="http://schemas.openxmlformats.org/presentationml/2006/main">
  <p:cSld>
    <p:bg>
      <p:bgPr>
        <a:solidFill xmlns:a="http://schemas.openxmlformats.org/drawingml/2006/main">
          <a:srgbClr val="09121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4C8112D-12ED-4C33-A32C-E634D4C56166}"/>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7FA"/>
                </a:solidFill>
                <a:latin typeface="Arial"/>
                <a:ea typeface="Arial"/>
                <a:cs typeface="Arial"/>
              </a:defRPr>
            </a:pPr>
            <a:r>
              <a:rPr sz="3300" b="1">
                <a:solidFill>
                  <a:srgbClr val="F3F7FA"/>
                </a:solidFill>
                <a:latin typeface="Arial"/>
                <a:ea typeface="Arial"/>
                <a:cs typeface="Arial"/>
              </a:rPr>
              <a:t>Backup: influence requirement ka status</a:t>
            </a:r>
          </a:p>
        </p:txBody>
      </p:sp>
      <p:sp>
        <p:nvSpPr>
          <p:cNvPr id="2" name="">
            <a:extLst xmlns:a="http://schemas.openxmlformats.org/drawingml/2006/main">
              <a:ext uri="{FF2B5EF4-FFF2-40B4-BE49-F238E27FC236}">
                <a16:creationId xmlns:a16="http://schemas.microsoft.com/office/drawing/2014/main" id="{1E9F8DC4-8826-4B06-ACBE-8C44C69AC79A}"/>
              </a:ext>
            </a:extLst>
          </p:cNvPr>
          <p:cNvSpPr>
            <a:spLocks xmlns:a="http://schemas.openxmlformats.org/drawingml/2006/main" noGrp="1"/>
          </p:cNvSpPr>
          <p:nvPr/>
        </p:nvSpPr>
        <p:spPr>
          <a:xfrm xmlns:a="http://schemas.openxmlformats.org/drawingml/2006/main">
            <a:off x="11049000" y="63722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2C2D0"/>
                </a:solidFill>
                <a:latin typeface="Arial"/>
                <a:ea typeface="Arial"/>
                <a:cs typeface="Arial"/>
              </a:defRPr>
            </a:pPr>
            <a:r>
              <a:rPr sz="1200" b="0">
                <a:solidFill>
                  <a:srgbClr val="B2C2D0"/>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281A433D-CFC3-46B6-997D-DC0FBB41DE12}"/>
              </a:ext>
            </a:extLst>
          </p:cNvPr>
          <p:cNvSpPr>
            <a:spLocks xmlns:a="http://schemas.openxmlformats.org/drawingml/2006/main" noGrp="1"/>
          </p:cNvSpPr>
          <p:nvPr/>
        </p:nvSpPr>
        <p:spPr>
          <a:xfrm xmlns:a="http://schemas.openxmlformats.org/drawingml/2006/main">
            <a:off x="609600" y="195262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66E0EA"/>
                </a:solidFill>
                <a:latin typeface="Arial"/>
                <a:ea typeface="Arial"/>
                <a:cs typeface="Arial"/>
              </a:defRPr>
            </a:pPr>
            <a:r>
              <a:rPr sz="2700" b="1">
                <a:solidFill>
                  <a:srgbClr val="66E0EA"/>
                </a:solidFill>
                <a:latin typeface="Arial"/>
                <a:ea typeface="Arial"/>
                <a:cs typeface="Arial"/>
              </a:rPr>
              <a:t>Verified abhi</a:t>
            </a:r>
          </a:p>
        </p:txBody>
      </p:sp>
      <p:sp>
        <p:nvSpPr>
          <p:cNvPr id="4" name="">
            <a:extLst xmlns:a="http://schemas.openxmlformats.org/drawingml/2006/main">
              <a:ext uri="{FF2B5EF4-FFF2-40B4-BE49-F238E27FC236}">
                <a16:creationId xmlns:a16="http://schemas.microsoft.com/office/drawing/2014/main" id="{5CFB4E2A-41EF-4DA9-BF37-5982CD02E4F2}"/>
              </a:ext>
            </a:extLst>
          </p:cNvPr>
          <p:cNvSpPr>
            <a:spLocks xmlns:a="http://schemas.openxmlformats.org/drawingml/2006/main" noGrp="1"/>
          </p:cNvSpPr>
          <p:nvPr/>
        </p:nvSpPr>
        <p:spPr>
          <a:xfrm xmlns:a="http://schemas.openxmlformats.org/drawingml/2006/main">
            <a:off x="609600" y="2857500"/>
            <a:ext cx="5143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B2C2D0"/>
                </a:solidFill>
                <a:latin typeface="Arial"/>
                <a:ea typeface="Arial"/>
                <a:cs typeface="Arial"/>
              </a:defRPr>
            </a:pPr>
            <a:r>
              <a:rPr sz="2325" b="0">
                <a:solidFill>
                  <a:srgbClr val="B2C2D0"/>
                </a:solidFill>
                <a:latin typeface="Arial"/>
                <a:ea typeface="Arial"/>
                <a:cs typeface="Arial"/>
              </a:rPr>
              <a:t>Bounded graph paths</a:t>
            </a:r>
          </a:p>
          <a:p xmlns:a="http://schemas.openxmlformats.org/drawingml/2006/main">
            <a:pPr>
              <a:defRPr sz="2325" b="0">
                <a:solidFill>
                  <a:srgbClr val="B2C2D0"/>
                </a:solidFill>
                <a:latin typeface="Arial"/>
                <a:ea typeface="Arial"/>
                <a:cs typeface="Arial"/>
              </a:defRPr>
            </a:pPr>
            <a:r>
              <a:rPr sz="2325" b="0">
                <a:solidFill>
                  <a:srgbClr val="B2C2D0"/>
                </a:solidFill>
                <a:latin typeface="Arial"/>
                <a:ea typeface="Arial"/>
                <a:cs typeface="Arial"/>
              </a:rPr>
              <a:t>Source-linked relationships</a:t>
            </a:r>
          </a:p>
          <a:p xmlns:a="http://schemas.openxmlformats.org/drawingml/2006/main">
            <a:pPr>
              <a:defRPr sz="2325" b="0">
                <a:solidFill>
                  <a:srgbClr val="B2C2D0"/>
                </a:solidFill>
                <a:latin typeface="Arial"/>
                <a:ea typeface="Arial"/>
                <a:cs typeface="Arial"/>
              </a:defRPr>
            </a:pPr>
            <a:r>
              <a:rPr sz="2325" b="0">
                <a:solidFill>
                  <a:srgbClr val="B2C2D0"/>
                </a:solidFill>
                <a:latin typeface="Arial"/>
                <a:ea typeface="Arial"/>
                <a:cs typeface="Arial"/>
              </a:rPr>
              <a:t>Local clustering feature</a:t>
            </a:r>
          </a:p>
        </p:txBody>
      </p:sp>
      <p:sp>
        <p:nvSpPr>
          <p:cNvPr id="5" name="">
            <a:extLst xmlns:a="http://schemas.openxmlformats.org/drawingml/2006/main">
              <a:ext uri="{FF2B5EF4-FFF2-40B4-BE49-F238E27FC236}">
                <a16:creationId xmlns:a16="http://schemas.microsoft.com/office/drawing/2014/main" id="{17A05FC7-4A6F-4819-9A79-B7DAD3115B60}"/>
              </a:ext>
            </a:extLst>
          </p:cNvPr>
          <p:cNvSpPr>
            <a:spLocks xmlns:a="http://schemas.openxmlformats.org/drawingml/2006/main" noGrp="1"/>
          </p:cNvSpPr>
          <p:nvPr/>
        </p:nvSpPr>
        <p:spPr>
          <a:xfrm xmlns:a="http://schemas.openxmlformats.org/drawingml/2006/main">
            <a:off x="6667500" y="195262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2CC88"/>
                </a:solidFill>
                <a:latin typeface="Arial"/>
                <a:ea typeface="Arial"/>
                <a:cs typeface="Arial"/>
              </a:defRPr>
            </a:pPr>
            <a:r>
              <a:rPr sz="2700" b="1">
                <a:solidFill>
                  <a:srgbClr val="F2CC88"/>
                </a:solidFill>
                <a:latin typeface="Arial"/>
                <a:ea typeface="Arial"/>
                <a:cs typeface="Arial"/>
              </a:rPr>
              <a:t>Next iteration</a:t>
            </a:r>
          </a:p>
        </p:txBody>
      </p:sp>
      <p:sp>
        <p:nvSpPr>
          <p:cNvPr id="6" name="">
            <a:extLst xmlns:a="http://schemas.openxmlformats.org/drawingml/2006/main">
              <a:ext uri="{FF2B5EF4-FFF2-40B4-BE49-F238E27FC236}">
                <a16:creationId xmlns:a16="http://schemas.microsoft.com/office/drawing/2014/main" id="{0ABE80A3-02EC-47E5-AD9C-4E181CE2E915}"/>
              </a:ext>
            </a:extLst>
          </p:cNvPr>
          <p:cNvSpPr>
            <a:spLocks xmlns:a="http://schemas.openxmlformats.org/drawingml/2006/main" noGrp="1"/>
          </p:cNvSpPr>
          <p:nvPr/>
        </p:nvSpPr>
        <p:spPr>
          <a:xfrm xmlns:a="http://schemas.openxmlformats.org/drawingml/2006/main">
            <a:off x="6667500" y="2857500"/>
            <a:ext cx="4953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B2C2D0"/>
                </a:solidFill>
                <a:latin typeface="Arial"/>
                <a:ea typeface="Arial"/>
                <a:cs typeface="Arial"/>
              </a:defRPr>
            </a:pPr>
            <a:r>
              <a:rPr sz="2325" b="0">
                <a:solidFill>
                  <a:srgbClr val="B2C2D0"/>
                </a:solidFill>
                <a:latin typeface="Arial"/>
                <a:ea typeface="Arial"/>
                <a:cs typeface="Arial"/>
              </a:rPr>
              <a:t>Explainable centrality ranking</a:t>
            </a:r>
          </a:p>
          <a:p xmlns:a="http://schemas.openxmlformats.org/drawingml/2006/main">
            <a:pPr>
              <a:defRPr sz="2325" b="0">
                <a:solidFill>
                  <a:srgbClr val="B2C2D0"/>
                </a:solidFill>
                <a:latin typeface="Arial"/>
                <a:ea typeface="Arial"/>
                <a:cs typeface="Arial"/>
              </a:defRPr>
            </a:pPr>
            <a:r>
              <a:rPr sz="2325" b="0">
                <a:solidFill>
                  <a:srgbClr val="B2C2D0"/>
                </a:solidFill>
                <a:latin typeface="Arial"/>
                <a:ea typeface="Arial"/>
                <a:cs typeface="Arial"/>
              </a:rPr>
              <a:t>Coverage aur stability checks</a:t>
            </a:r>
          </a:p>
          <a:p xmlns:a="http://schemas.openxmlformats.org/drawingml/2006/main">
            <a:pPr>
              <a:defRPr sz="2325" b="0">
                <a:solidFill>
                  <a:srgbClr val="B2C2D0"/>
                </a:solidFill>
                <a:latin typeface="Arial"/>
                <a:ea typeface="Arial"/>
                <a:cs typeface="Arial"/>
              </a:defRPr>
            </a:pPr>
            <a:r>
              <a:rPr sz="2325" b="0">
                <a:solidFill>
                  <a:srgbClr val="B2C2D0"/>
                </a:solidFill>
                <a:latin typeface="Arial"/>
                <a:ea typeface="Arial"/>
                <a:cs typeface="Arial"/>
              </a:rPr>
              <a:t>Analyst validation</a:t>
            </a:r>
          </a:p>
        </p:txBody>
      </p:sp>
      <p:sp>
        <p:nvSpPr>
          <p:cNvPr id="7" name="">
            <a:extLst xmlns:a="http://schemas.openxmlformats.org/drawingml/2006/main">
              <a:ext uri="{FF2B5EF4-FFF2-40B4-BE49-F238E27FC236}">
                <a16:creationId xmlns:a16="http://schemas.microsoft.com/office/drawing/2014/main" id="{E18E8903-B48B-4BF9-B2FD-C8712B44DEC2}"/>
              </a:ext>
            </a:extLst>
          </p:cNvPr>
          <p:cNvSpPr>
            <a:spLocks xmlns:a="http://schemas.openxmlformats.org/drawingml/2006/main" noGrp="1"/>
          </p:cNvSpPr>
          <p:nvPr/>
        </p:nvSpPr>
        <p:spPr>
          <a:xfrm xmlns:a="http://schemas.openxmlformats.org/drawingml/2006/main">
            <a:off x="609600" y="5695950"/>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3F7FA"/>
                </a:solidFill>
                <a:latin typeface="Arial"/>
                <a:ea typeface="Arial"/>
                <a:cs typeface="Arial"/>
              </a:defRPr>
            </a:pPr>
            <a:r>
              <a:rPr sz="1875" b="0">
                <a:solidFill>
                  <a:srgbClr val="F3F7FA"/>
                </a:solidFill>
                <a:latin typeface="Arial"/>
                <a:ea typeface="Arial"/>
                <a:cs typeface="Arial"/>
              </a:rPr>
              <a:t>Central node ka meaning context se aayega. Leadership ka automatic conclusion nahi.</a:t>
            </a:r>
          </a:p>
        </p:txBody>
      </p:sp>
    </p:spTree>
    <p:extLst>
      <p:ext uri="{BB962C8B-B14F-4D97-AF65-F5344CB8AC3E}">
        <p14:creationId xmlns:p14="http://schemas.microsoft.com/office/powerpoint/2010/main" val="459991095"/>
      </p:ext>
    </p:extLst>
  </p:cSld>
</p:sld>
</file>

<file path=ppt/slides/slide11.xml><?xml version="1.0" encoding="utf-8"?>
<p:sld xmlns:p="http://schemas.openxmlformats.org/presentationml/2006/main">
  <p:cSld>
    <p:bg>
      <p:bgPr>
        <a:solidFill xmlns:a="http://schemas.openxmlformats.org/drawingml/2006/main">
          <a:srgbClr val="09121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03E20CB-D1C7-4115-90E6-B107996417F8}"/>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7FA"/>
                </a:solidFill>
                <a:latin typeface="Arial"/>
                <a:ea typeface="Arial"/>
                <a:cs typeface="Arial"/>
              </a:defRPr>
            </a:pPr>
            <a:r>
              <a:rPr sz="3300" b="1">
                <a:solidFill>
                  <a:srgbClr val="F3F7FA"/>
                </a:solidFill>
                <a:latin typeface="Arial"/>
                <a:ea typeface="Arial"/>
                <a:cs typeface="Arial"/>
              </a:rPr>
              <a:t>Backup: evaluation plan</a:t>
            </a:r>
          </a:p>
        </p:txBody>
      </p:sp>
      <p:sp>
        <p:nvSpPr>
          <p:cNvPr id="2" name="">
            <a:extLst xmlns:a="http://schemas.openxmlformats.org/drawingml/2006/main">
              <a:ext uri="{FF2B5EF4-FFF2-40B4-BE49-F238E27FC236}">
                <a16:creationId xmlns:a16="http://schemas.microsoft.com/office/drawing/2014/main" id="{D1D7B2DA-03EC-4127-8412-5F6C96300B3D}"/>
              </a:ext>
            </a:extLst>
          </p:cNvPr>
          <p:cNvSpPr>
            <a:spLocks xmlns:a="http://schemas.openxmlformats.org/drawingml/2006/main" noGrp="1"/>
          </p:cNvSpPr>
          <p:nvPr/>
        </p:nvSpPr>
        <p:spPr>
          <a:xfrm xmlns:a="http://schemas.openxmlformats.org/drawingml/2006/main">
            <a:off x="11049000" y="63722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2C2D0"/>
                </a:solidFill>
                <a:latin typeface="Arial"/>
                <a:ea typeface="Arial"/>
                <a:cs typeface="Arial"/>
              </a:defRPr>
            </a:pPr>
            <a:r>
              <a:rPr sz="1200" b="0">
                <a:solidFill>
                  <a:srgbClr val="B2C2D0"/>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6B7D1D8C-8D14-4BB2-8F88-44D95E9C0F13}"/>
              </a:ext>
            </a:extLst>
          </p:cNvPr>
          <p:cNvSpPr>
            <a:spLocks xmlns:a="http://schemas.openxmlformats.org/drawingml/2006/main" noGrp="1"/>
          </p:cNvSpPr>
          <p:nvPr/>
        </p:nvSpPr>
        <p:spPr>
          <a:xfrm xmlns:a="http://schemas.openxmlformats.org/drawingml/2006/main">
            <a:off x="609600" y="1847850"/>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6E0EA"/>
                </a:solidFill>
                <a:latin typeface="Arial"/>
                <a:ea typeface="Arial"/>
                <a:cs typeface="Arial"/>
              </a:defRPr>
            </a:pPr>
            <a:r>
              <a:rPr sz="2175" b="1">
                <a:solidFill>
                  <a:srgbClr val="66E0EA"/>
                </a:solidFill>
                <a:latin typeface="Arial"/>
                <a:ea typeface="Arial"/>
                <a:cs typeface="Arial"/>
              </a:rPr>
              <a:t>False merges</a:t>
            </a:r>
          </a:p>
        </p:txBody>
      </p:sp>
      <p:sp>
        <p:nvSpPr>
          <p:cNvPr id="4" name="">
            <a:extLst xmlns:a="http://schemas.openxmlformats.org/drawingml/2006/main">
              <a:ext uri="{FF2B5EF4-FFF2-40B4-BE49-F238E27FC236}">
                <a16:creationId xmlns:a16="http://schemas.microsoft.com/office/drawing/2014/main" id="{B3292AF6-927B-4985-8710-5A6306638466}"/>
              </a:ext>
            </a:extLst>
          </p:cNvPr>
          <p:cNvSpPr>
            <a:spLocks xmlns:a="http://schemas.openxmlformats.org/drawingml/2006/main" noGrp="1"/>
          </p:cNvSpPr>
          <p:nvPr/>
        </p:nvSpPr>
        <p:spPr>
          <a:xfrm xmlns:a="http://schemas.openxmlformats.org/drawingml/2006/main">
            <a:off x="4238625" y="1847850"/>
            <a:ext cx="723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Same naam, alag identifiers par identity alag rahe</a:t>
            </a:r>
          </a:p>
        </p:txBody>
      </p:sp>
      <p:sp>
        <p:nvSpPr>
          <p:cNvPr id="5" name="">
            <a:extLst xmlns:a="http://schemas.openxmlformats.org/drawingml/2006/main">
              <a:ext uri="{FF2B5EF4-FFF2-40B4-BE49-F238E27FC236}">
                <a16:creationId xmlns:a16="http://schemas.microsoft.com/office/drawing/2014/main" id="{26BCA135-1F9E-4A3E-BB9A-8A0ABFECBE16}"/>
              </a:ext>
            </a:extLst>
          </p:cNvPr>
          <p:cNvSpPr>
            <a:spLocks xmlns:a="http://schemas.openxmlformats.org/drawingml/2006/main" noGrp="1"/>
          </p:cNvSpPr>
          <p:nvPr/>
        </p:nvSpPr>
        <p:spPr>
          <a:xfrm xmlns:a="http://schemas.openxmlformats.org/drawingml/2006/main">
            <a:off x="609600" y="2857500"/>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6E0EA"/>
                </a:solidFill>
                <a:latin typeface="Arial"/>
                <a:ea typeface="Arial"/>
                <a:cs typeface="Arial"/>
              </a:defRPr>
            </a:pPr>
            <a:r>
              <a:rPr sz="2175" b="1">
                <a:solidFill>
                  <a:srgbClr val="66E0EA"/>
                </a:solidFill>
                <a:latin typeface="Arial"/>
                <a:ea typeface="Arial"/>
                <a:cs typeface="Arial"/>
              </a:rPr>
              <a:t>Evidence coverage</a:t>
            </a:r>
          </a:p>
        </p:txBody>
      </p:sp>
      <p:sp>
        <p:nvSpPr>
          <p:cNvPr id="6" name="">
            <a:extLst xmlns:a="http://schemas.openxmlformats.org/drawingml/2006/main">
              <a:ext uri="{FF2B5EF4-FFF2-40B4-BE49-F238E27FC236}">
                <a16:creationId xmlns:a16="http://schemas.microsoft.com/office/drawing/2014/main" id="{F7B1C4F3-B17A-41DD-B181-F5B77CAA93DC}"/>
              </a:ext>
            </a:extLst>
          </p:cNvPr>
          <p:cNvSpPr>
            <a:spLocks xmlns:a="http://schemas.openxmlformats.org/drawingml/2006/main" noGrp="1"/>
          </p:cNvSpPr>
          <p:nvPr/>
        </p:nvSpPr>
        <p:spPr>
          <a:xfrm xmlns:a="http://schemas.openxmlformats.org/drawingml/2006/main">
            <a:off x="4238625" y="2857500"/>
            <a:ext cx="723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Har surfaced relationship ka locator resolve ho</a:t>
            </a:r>
          </a:p>
        </p:txBody>
      </p:sp>
      <p:sp>
        <p:nvSpPr>
          <p:cNvPr id="7" name="">
            <a:extLst xmlns:a="http://schemas.openxmlformats.org/drawingml/2006/main">
              <a:ext uri="{FF2B5EF4-FFF2-40B4-BE49-F238E27FC236}">
                <a16:creationId xmlns:a16="http://schemas.microsoft.com/office/drawing/2014/main" id="{1A31BA27-B154-49B8-9CA4-3E8ADFCD32DF}"/>
              </a:ext>
            </a:extLst>
          </p:cNvPr>
          <p:cNvSpPr>
            <a:spLocks xmlns:a="http://schemas.openxmlformats.org/drawingml/2006/main" noGrp="1"/>
          </p:cNvSpPr>
          <p:nvPr/>
        </p:nvSpPr>
        <p:spPr>
          <a:xfrm xmlns:a="http://schemas.openxmlformats.org/drawingml/2006/main">
            <a:off x="609600" y="3867150"/>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6E0EA"/>
                </a:solidFill>
                <a:latin typeface="Arial"/>
                <a:ea typeface="Arial"/>
                <a:cs typeface="Arial"/>
              </a:defRPr>
            </a:pPr>
            <a:r>
              <a:rPr sz="2175" b="1">
                <a:solidFill>
                  <a:srgbClr val="66E0EA"/>
                </a:solidFill>
                <a:latin typeface="Arial"/>
                <a:ea typeface="Arial"/>
                <a:cs typeface="Arial"/>
              </a:rPr>
              <a:t>Negative controls</a:t>
            </a:r>
          </a:p>
        </p:txBody>
      </p:sp>
      <p:sp>
        <p:nvSpPr>
          <p:cNvPr id="8" name="">
            <a:extLst xmlns:a="http://schemas.openxmlformats.org/drawingml/2006/main">
              <a:ext uri="{FF2B5EF4-FFF2-40B4-BE49-F238E27FC236}">
                <a16:creationId xmlns:a16="http://schemas.microsoft.com/office/drawing/2014/main" id="{990BE6B7-F8BA-4DD4-BFED-2E4BD0A6584E}"/>
              </a:ext>
            </a:extLst>
          </p:cNvPr>
          <p:cNvSpPr>
            <a:spLocks xmlns:a="http://schemas.openxmlformats.org/drawingml/2006/main" noGrp="1"/>
          </p:cNvSpPr>
          <p:nvPr/>
        </p:nvSpPr>
        <p:spPr>
          <a:xfrm xmlns:a="http://schemas.openxmlformats.org/drawingml/2006/main">
            <a:off x="4238625" y="3867150"/>
            <a:ext cx="723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Benign burst ko crime label na mile</a:t>
            </a:r>
          </a:p>
        </p:txBody>
      </p:sp>
      <p:sp>
        <p:nvSpPr>
          <p:cNvPr id="9" name="">
            <a:extLst xmlns:a="http://schemas.openxmlformats.org/drawingml/2006/main">
              <a:ext uri="{FF2B5EF4-FFF2-40B4-BE49-F238E27FC236}">
                <a16:creationId xmlns:a16="http://schemas.microsoft.com/office/drawing/2014/main" id="{11011F81-1D9D-452F-A32A-34A92001B846}"/>
              </a:ext>
            </a:extLst>
          </p:cNvPr>
          <p:cNvSpPr>
            <a:spLocks xmlns:a="http://schemas.openxmlformats.org/drawingml/2006/main" noGrp="1"/>
          </p:cNvSpPr>
          <p:nvPr/>
        </p:nvSpPr>
        <p:spPr>
          <a:xfrm xmlns:a="http://schemas.openxmlformats.org/drawingml/2006/main">
            <a:off x="609600" y="4876800"/>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6E0EA"/>
                </a:solidFill>
                <a:latin typeface="Arial"/>
                <a:ea typeface="Arial"/>
                <a:cs typeface="Arial"/>
              </a:defRPr>
            </a:pPr>
            <a:r>
              <a:rPr sz="2175" b="1">
                <a:solidFill>
                  <a:srgbClr val="66E0EA"/>
                </a:solidFill>
                <a:latin typeface="Arial"/>
                <a:ea typeface="Arial"/>
                <a:cs typeface="Arial"/>
              </a:rPr>
              <a:t>Workflow timing</a:t>
            </a:r>
          </a:p>
        </p:txBody>
      </p:sp>
      <p:sp>
        <p:nvSpPr>
          <p:cNvPr id="10" name="">
            <a:extLst xmlns:a="http://schemas.openxmlformats.org/drawingml/2006/main">
              <a:ext uri="{FF2B5EF4-FFF2-40B4-BE49-F238E27FC236}">
                <a16:creationId xmlns:a16="http://schemas.microsoft.com/office/drawing/2014/main" id="{1C35B78E-4182-465F-AA9B-DE7267FE9E99}"/>
              </a:ext>
            </a:extLst>
          </p:cNvPr>
          <p:cNvSpPr>
            <a:spLocks xmlns:a="http://schemas.openxmlformats.org/drawingml/2006/main" noGrp="1"/>
          </p:cNvSpPr>
          <p:nvPr/>
        </p:nvSpPr>
        <p:spPr>
          <a:xfrm xmlns:a="http://schemas.openxmlformats.org/drawingml/2006/main">
            <a:off x="4238625" y="4876800"/>
            <a:ext cx="7239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Same task ka manual aur assisted time compare ho</a:t>
            </a:r>
          </a:p>
        </p:txBody>
      </p:sp>
      <p:sp>
        <p:nvSpPr>
          <p:cNvPr id="11" name="">
            <a:extLst xmlns:a="http://schemas.openxmlformats.org/drawingml/2006/main">
              <a:ext uri="{FF2B5EF4-FFF2-40B4-BE49-F238E27FC236}">
                <a16:creationId xmlns:a16="http://schemas.microsoft.com/office/drawing/2014/main" id="{AAB20A17-11E0-4B9A-9C0E-41D56E2869EB}"/>
              </a:ext>
            </a:extLst>
          </p:cNvPr>
          <p:cNvSpPr>
            <a:spLocks xmlns:a="http://schemas.openxmlformats.org/drawingml/2006/main" noGrp="1"/>
          </p:cNvSpPr>
          <p:nvPr/>
        </p:nvSpPr>
        <p:spPr>
          <a:xfrm xmlns:a="http://schemas.openxmlformats.org/drawingml/2006/main">
            <a:off x="609600" y="605790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F2CC88"/>
                </a:solidFill>
                <a:latin typeface="Arial"/>
                <a:ea typeface="Arial"/>
                <a:cs typeface="Arial"/>
              </a:defRPr>
            </a:pPr>
            <a:r>
              <a:rPr sz="1500" b="0">
                <a:solidFill>
                  <a:srgbClr val="F2CC88"/>
                </a:solidFill>
                <a:latin typeface="Arial"/>
                <a:ea typeface="Arial"/>
                <a:cs typeface="Arial"/>
              </a:rPr>
              <a:t>Planned evaluation. Accuracy aur time-saving percentage abhi claim nahi karte.</a:t>
            </a:r>
          </a:p>
        </p:txBody>
      </p:sp>
    </p:spTree>
    <p:extLst>
      <p:ext uri="{BB962C8B-B14F-4D97-AF65-F5344CB8AC3E}">
        <p14:creationId xmlns:p14="http://schemas.microsoft.com/office/powerpoint/2010/main" val="684267386"/>
      </p:ext>
    </p:extLst>
  </p:cSld>
</p:sld>
</file>

<file path=ppt/slides/slide12.xml><?xml version="1.0" encoding="utf-8"?>
<p:sld xmlns:p="http://schemas.openxmlformats.org/presentationml/2006/main">
  <p:cSld>
    <p:bg>
      <p:bgPr>
        <a:solidFill xmlns:a="http://schemas.openxmlformats.org/drawingml/2006/main">
          <a:srgbClr val="09121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4AD5D49-C1AE-4DDB-A047-E3D7F51FA4F9}"/>
              </a:ext>
            </a:extLst>
          </p:cNvPr>
          <p:cNvSpPr>
            <a:spLocks xmlns:a="http://schemas.openxmlformats.org/drawingml/2006/main" noGrp="1"/>
          </p:cNvSpPr>
          <p:nvPr/>
        </p:nvSpPr>
        <p:spPr>
          <a:xfrm xmlns:a="http://schemas.openxmlformats.org/drawingml/2006/main">
            <a:off x="609600" y="447675"/>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3F7FA"/>
                </a:solidFill>
                <a:latin typeface="Arial"/>
                <a:ea typeface="Arial"/>
                <a:cs typeface="Arial"/>
              </a:defRPr>
            </a:pPr>
            <a:r>
              <a:rPr sz="3300" b="1">
                <a:solidFill>
                  <a:srgbClr val="F3F7FA"/>
                </a:solidFill>
                <a:latin typeface="Arial"/>
                <a:ea typeface="Arial"/>
                <a:cs typeface="Arial"/>
              </a:rPr>
              <a:t>Backup: technical Q&amp;A</a:t>
            </a:r>
          </a:p>
        </p:txBody>
      </p:sp>
      <p:sp>
        <p:nvSpPr>
          <p:cNvPr id="2" name="">
            <a:extLst xmlns:a="http://schemas.openxmlformats.org/drawingml/2006/main">
              <a:ext uri="{FF2B5EF4-FFF2-40B4-BE49-F238E27FC236}">
                <a16:creationId xmlns:a16="http://schemas.microsoft.com/office/drawing/2014/main" id="{5B553DC7-A1FE-4BB2-9974-4E60E9999633}"/>
              </a:ext>
            </a:extLst>
          </p:cNvPr>
          <p:cNvSpPr>
            <a:spLocks xmlns:a="http://schemas.openxmlformats.org/drawingml/2006/main" noGrp="1"/>
          </p:cNvSpPr>
          <p:nvPr/>
        </p:nvSpPr>
        <p:spPr>
          <a:xfrm xmlns:a="http://schemas.openxmlformats.org/drawingml/2006/main">
            <a:off x="11049000" y="637222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2C2D0"/>
                </a:solidFill>
                <a:latin typeface="Arial"/>
                <a:ea typeface="Arial"/>
                <a:cs typeface="Arial"/>
              </a:defRPr>
            </a:pPr>
            <a:r>
              <a:rPr sz="1200" b="0">
                <a:solidFill>
                  <a:srgbClr val="B2C2D0"/>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E5C6270D-DDEA-4525-9704-F35C510613EC}"/>
              </a:ext>
            </a:extLst>
          </p:cNvPr>
          <p:cNvSpPr>
            <a:spLocks xmlns:a="http://schemas.openxmlformats.org/drawingml/2006/main" noGrp="1"/>
          </p:cNvSpPr>
          <p:nvPr/>
        </p:nvSpPr>
        <p:spPr>
          <a:xfrm xmlns:a="http://schemas.openxmlformats.org/drawingml/2006/main">
            <a:off x="609600" y="1847850"/>
            <a:ext cx="381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6E0EA"/>
                </a:solidFill>
                <a:latin typeface="Arial"/>
                <a:ea typeface="Arial"/>
                <a:cs typeface="Arial"/>
              </a:defRPr>
            </a:pPr>
            <a:r>
              <a:rPr sz="2175" b="1">
                <a:solidFill>
                  <a:srgbClr val="66E0EA"/>
                </a:solidFill>
                <a:latin typeface="Arial"/>
                <a:ea typeface="Arial"/>
                <a:cs typeface="Arial"/>
              </a:rPr>
              <a:t>Lead hardcoded hai?</a:t>
            </a:r>
          </a:p>
        </p:txBody>
      </p:sp>
      <p:sp>
        <p:nvSpPr>
          <p:cNvPr id="4" name="">
            <a:extLst xmlns:a="http://schemas.openxmlformats.org/drawingml/2006/main">
              <a:ext uri="{FF2B5EF4-FFF2-40B4-BE49-F238E27FC236}">
                <a16:creationId xmlns:a16="http://schemas.microsoft.com/office/drawing/2014/main" id="{A941C2C6-4FC3-47D3-AEF4-75CBE819583F}"/>
              </a:ext>
            </a:extLst>
          </p:cNvPr>
          <p:cNvSpPr>
            <a:spLocks xmlns:a="http://schemas.openxmlformats.org/drawingml/2006/main" noGrp="1"/>
          </p:cNvSpPr>
          <p:nvPr/>
        </p:nvSpPr>
        <p:spPr>
          <a:xfrm xmlns:a="http://schemas.openxmlformats.org/drawingml/2006/main">
            <a:off x="4810125" y="1847850"/>
            <a:ext cx="666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Inputs synthetic hain. Result backend calculate karta hai.</a:t>
            </a:r>
          </a:p>
        </p:txBody>
      </p:sp>
      <p:sp>
        <p:nvSpPr>
          <p:cNvPr id="5" name="">
            <a:extLst xmlns:a="http://schemas.openxmlformats.org/drawingml/2006/main">
              <a:ext uri="{FF2B5EF4-FFF2-40B4-BE49-F238E27FC236}">
                <a16:creationId xmlns:a16="http://schemas.microsoft.com/office/drawing/2014/main" id="{C2873610-3143-4A9C-BC75-8C80C07C253B}"/>
              </a:ext>
            </a:extLst>
          </p:cNvPr>
          <p:cNvSpPr>
            <a:spLocks xmlns:a="http://schemas.openxmlformats.org/drawingml/2006/main" noGrp="1"/>
          </p:cNvSpPr>
          <p:nvPr/>
        </p:nvSpPr>
        <p:spPr>
          <a:xfrm xmlns:a="http://schemas.openxmlformats.org/drawingml/2006/main">
            <a:off x="609600" y="2857500"/>
            <a:ext cx="381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6E0EA"/>
                </a:solidFill>
                <a:latin typeface="Arial"/>
                <a:ea typeface="Arial"/>
                <a:cs typeface="Arial"/>
              </a:defRPr>
            </a:pPr>
            <a:r>
              <a:rPr sz="2175" b="1">
                <a:solidFill>
                  <a:srgbClr val="66E0EA"/>
                </a:solidFill>
                <a:latin typeface="Arial"/>
                <a:ea typeface="Arial"/>
                <a:cs typeface="Arial"/>
              </a:rPr>
              <a:t>AI kahan use hua?</a:t>
            </a:r>
          </a:p>
        </p:txBody>
      </p:sp>
      <p:sp>
        <p:nvSpPr>
          <p:cNvPr id="6" name="">
            <a:extLst xmlns:a="http://schemas.openxmlformats.org/drawingml/2006/main">
              <a:ext uri="{FF2B5EF4-FFF2-40B4-BE49-F238E27FC236}">
                <a16:creationId xmlns:a16="http://schemas.microsoft.com/office/drawing/2014/main" id="{4FD29F94-2F11-497B-A7C9-51BABD91C4E7}"/>
              </a:ext>
            </a:extLst>
          </p:cNvPr>
          <p:cNvSpPr>
            <a:spLocks xmlns:a="http://schemas.openxmlformats.org/drawingml/2006/main" noGrp="1"/>
          </p:cNvSpPr>
          <p:nvPr/>
        </p:nvSpPr>
        <p:spPr>
          <a:xfrm xmlns:a="http://schemas.openxmlformats.org/drawingml/2006/main">
            <a:off x="4810125" y="2857500"/>
            <a:ext cx="666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Optional NER aur secondary anomaly triage mein.</a:t>
            </a:r>
          </a:p>
        </p:txBody>
      </p:sp>
      <p:sp>
        <p:nvSpPr>
          <p:cNvPr id="7" name="">
            <a:extLst xmlns:a="http://schemas.openxmlformats.org/drawingml/2006/main">
              <a:ext uri="{FF2B5EF4-FFF2-40B4-BE49-F238E27FC236}">
                <a16:creationId xmlns:a16="http://schemas.microsoft.com/office/drawing/2014/main" id="{2AD84C41-B55C-4C4F-AACB-9ABB7F95A68B}"/>
              </a:ext>
            </a:extLst>
          </p:cNvPr>
          <p:cNvSpPr>
            <a:spLocks xmlns:a="http://schemas.openxmlformats.org/drawingml/2006/main" noGrp="1"/>
          </p:cNvSpPr>
          <p:nvPr/>
        </p:nvSpPr>
        <p:spPr>
          <a:xfrm xmlns:a="http://schemas.openxmlformats.org/drawingml/2006/main">
            <a:off x="609600" y="3867150"/>
            <a:ext cx="381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6E0EA"/>
                </a:solidFill>
                <a:latin typeface="Arial"/>
                <a:ea typeface="Arial"/>
                <a:cs typeface="Arial"/>
              </a:defRPr>
            </a:pPr>
            <a:r>
              <a:rPr sz="2175" b="1">
                <a:solidFill>
                  <a:srgbClr val="66E0EA"/>
                </a:solidFill>
                <a:latin typeface="Arial"/>
                <a:ea typeface="Arial"/>
                <a:cs typeface="Arial"/>
              </a:rPr>
              <a:t>Production-ready hai?</a:t>
            </a:r>
          </a:p>
        </p:txBody>
      </p:sp>
      <p:sp>
        <p:nvSpPr>
          <p:cNvPr id="8" name="">
            <a:extLst xmlns:a="http://schemas.openxmlformats.org/drawingml/2006/main">
              <a:ext uri="{FF2B5EF4-FFF2-40B4-BE49-F238E27FC236}">
                <a16:creationId xmlns:a16="http://schemas.microsoft.com/office/drawing/2014/main" id="{78F27FE0-B226-4D2E-A6C2-AC4F301AD063}"/>
              </a:ext>
            </a:extLst>
          </p:cNvPr>
          <p:cNvSpPr>
            <a:spLocks xmlns:a="http://schemas.openxmlformats.org/drawingml/2006/main" noGrp="1"/>
          </p:cNvSpPr>
          <p:nvPr/>
        </p:nvSpPr>
        <p:spPr>
          <a:xfrm xmlns:a="http://schemas.openxmlformats.org/drawingml/2006/main">
            <a:off x="4810125" y="3867150"/>
            <a:ext cx="666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Public demo live hai. Hardening abhi pending hai.</a:t>
            </a:r>
          </a:p>
        </p:txBody>
      </p:sp>
      <p:sp>
        <p:nvSpPr>
          <p:cNvPr id="9" name="">
            <a:extLst xmlns:a="http://schemas.openxmlformats.org/drawingml/2006/main">
              <a:ext uri="{FF2B5EF4-FFF2-40B4-BE49-F238E27FC236}">
                <a16:creationId xmlns:a16="http://schemas.microsoft.com/office/drawing/2014/main" id="{2B802CED-2552-4009-A01A-11289B9FF542}"/>
              </a:ext>
            </a:extLst>
          </p:cNvPr>
          <p:cNvSpPr>
            <a:spLocks xmlns:a="http://schemas.openxmlformats.org/drawingml/2006/main" noGrp="1"/>
          </p:cNvSpPr>
          <p:nvPr/>
        </p:nvSpPr>
        <p:spPr>
          <a:xfrm xmlns:a="http://schemas.openxmlformats.org/drawingml/2006/main">
            <a:off x="609600" y="4876800"/>
            <a:ext cx="3810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66E0EA"/>
                </a:solidFill>
                <a:latin typeface="Arial"/>
                <a:ea typeface="Arial"/>
                <a:cs typeface="Arial"/>
              </a:defRPr>
            </a:pPr>
            <a:r>
              <a:rPr sz="2175" b="1">
                <a:solidFill>
                  <a:srgbClr val="66E0EA"/>
                </a:solidFill>
                <a:latin typeface="Arial"/>
                <a:ea typeface="Arial"/>
                <a:cs typeface="Arial"/>
              </a:rPr>
              <a:t>Impact kitna hai?</a:t>
            </a:r>
          </a:p>
        </p:txBody>
      </p:sp>
      <p:sp>
        <p:nvSpPr>
          <p:cNvPr id="10" name="">
            <a:extLst xmlns:a="http://schemas.openxmlformats.org/drawingml/2006/main">
              <a:ext uri="{FF2B5EF4-FFF2-40B4-BE49-F238E27FC236}">
                <a16:creationId xmlns:a16="http://schemas.microsoft.com/office/drawing/2014/main" id="{DA9B7319-C261-42D9-A38E-135EBA1D8443}"/>
              </a:ext>
            </a:extLst>
          </p:cNvPr>
          <p:cNvSpPr>
            <a:spLocks xmlns:a="http://schemas.openxmlformats.org/drawingml/2006/main" noGrp="1"/>
          </p:cNvSpPr>
          <p:nvPr/>
        </p:nvSpPr>
        <p:spPr>
          <a:xfrm xmlns:a="http://schemas.openxmlformats.org/drawingml/2006/main">
            <a:off x="4810125" y="4876800"/>
            <a:ext cx="666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B2C2D0"/>
                </a:solidFill>
                <a:latin typeface="Arial"/>
                <a:ea typeface="Arial"/>
                <a:cs typeface="Arial"/>
              </a:defRPr>
            </a:pPr>
            <a:r>
              <a:rPr sz="2100" b="0">
                <a:solidFill>
                  <a:srgbClr val="B2C2D0"/>
                </a:solidFill>
                <a:latin typeface="Arial"/>
                <a:ea typeface="Arial"/>
                <a:cs typeface="Arial"/>
              </a:rPr>
              <a:t>Time-saving hypothesis ko pilot mein measure karenge.</a:t>
            </a:r>
          </a:p>
        </p:txBody>
      </p:sp>
    </p:spTree>
    <p:extLst>
      <p:ext uri="{BB962C8B-B14F-4D97-AF65-F5344CB8AC3E}">
        <p14:creationId xmlns:p14="http://schemas.microsoft.com/office/powerpoint/2010/main" val="21468650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2026-09-06T13:47:52.4870000Z</dcterms:created>
  <dcterms:modified xsi:type="dcterms:W3CDTF">2026-09-06T13:47:52.4870000Z</dcterms:modified>
</coreProperties>
</file>