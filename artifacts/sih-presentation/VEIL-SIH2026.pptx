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Purpose: Explain the workflow and its differentiation.</a:t>
            </a:r>
          </a:p>
          <a:p/>
          <a:p>
            <a:r>
              <a:t>Speaker script: The challenge is connecting information across separate records. VEIL builds a graph with traceable source evidence. This actual prototype screenshot shows a computed association path. Unlike manual cross-referencing, the same workspace links the relationship to its evidence and preserves reversible identity decisions. A connection is a lead for review, not proof of wrongdoing.</a:t>
            </a:r>
          </a:p>
          <a:p/>
          <a:p>
            <a:r>
              <a:t>Judge takeaway: The differentiator is continuity from record to graph to reviewed lead.</a:t>
            </a:r>
          </a:p>
          <a:p/>
          <a:p>
            <a:r>
              <a:t>Likely question: What is novel beyond a graph viewer?</a:t>
            </a:r>
          </a:p>
          <a:p>
            <a:r>
              <a:t>Answer: The backend combines source provenance, reviewed identity resolution, bounded traversal and evidence-gated signals within one investigator workflow.</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Purpose: Separate ML, deterministic algorithms and human authority.</a:t>
            </a:r>
          </a:p>
          <a:p/>
          <a:p>
            <a:r>
              <a:t>Speaker script: Local spaCy identifies entities in free text, while regex handles exact structured identifiers. Human review controls uncertain identity merges. NetworkX computes graph paths. Explicit temporal rules generate evidence-backed leads. Isolation Forest is implemented as secondary statistical triage over case features. It does not predict guilt and does not drive the primary lead-priority policy. SQLite persists review decisions.</a:t>
            </a:r>
          </a:p>
          <a:p/>
          <a:p>
            <a:r>
              <a:t>Judge takeaway: Different methods serve distinct, auditable roles.</a:t>
            </a:r>
          </a:p>
          <a:p/>
          <a:p>
            <a:r>
              <a:t>Likely question: Why not use ML everywhere?</a:t>
            </a:r>
          </a:p>
          <a:p>
            <a:r>
              <a:t>Answer: Exact identifiers and source-linked temporal rules benefit from deterministic behavior. Probabilistic NLP helps with unfamiliar text, but its output remains subject to review.</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Purpose: Establish engineering feasibility without implying production readiness.</a:t>
            </a:r>
          </a:p>
          <a:p/>
          <a:p>
            <a:r>
              <a:t>Speaker script: The current implementation runs locally and the backend test suite passed all 98 tests in this session. The main risks are data quality, extraction errors and prototype scale. Current controls include source traces and reversible human review. Production still needs authenticated access, encryption, stronger audit storage and evaluation on authorized representative data. We would profile workloads before choosing a larger graph store.</a:t>
            </a:r>
          </a:p>
          <a:p/>
          <a:p>
            <a:r>
              <a:t>Judge takeaway: The prototype is testable, with clear production gaps.</a:t>
            </a:r>
          </a:p>
          <a:p/>
          <a:p>
            <a:r>
              <a:t>Likely question: Do 98 tests prove accuracy?</a:t>
            </a:r>
          </a:p>
          <a:p>
            <a:r>
              <a:t>Answer: No. They verify implementation behavior and synthetic scenarios. They do not estimate operational accuracy or investigative outcomes.</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Purpose: Connect the evidence workflow to user benefit.</a:t>
            </a:r>
          </a:p>
          <a:p/>
          <a:p>
            <a:r>
              <a:t>Speaker script: In our synthetic case, a phone records eleven calls against a median baseline of two a day. Three connected transfers occur within seventy-five minutes, and a sourced six-hop path provides graph context. The backend combines these categories into a review-priority lead. The investigator can inspect the calculation and source evidence. We expect less repeated cross-referencing, but have not measured time savings.</a:t>
            </a:r>
          </a:p>
          <a:p/>
          <a:p>
            <a:r>
              <a:t>Judge takeaway: VEIL surfaces the connection; the investigator decides what it means.</a:t>
            </a:r>
          </a:p>
          <a:p/>
          <a:p>
            <a:r>
              <a:t>Likely question: Could this be ordinary activity?</a:t>
            </a:r>
          </a:p>
          <a:p>
            <a:r>
              <a:t>Answer: Yes. Business calls and legitimate transfers can produce the same pattern. Review priority is not a probability of crime.</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Purpose: Make the technical foundation and evidence verifiable.</a:t>
            </a:r>
          </a:p>
          <a:p/>
          <a:p>
            <a:r>
              <a:t>Speaker script: These references document the underlying NLP, graph and anomaly methods. Our contribution is their integration with evidence provenance and investigator review. The repository supplies implementation evidence, tests and captured API outputs. Our evaluation uses synthetic records, so it cannot support real-world accuracy claims. We can now demonstrate the exact route from a source record to a reviewed lead.</a:t>
            </a:r>
          </a:p>
          <a:p/>
          <a:p>
            <a:r>
              <a:t>Judge takeaway: Claims are inspectable and limitations explicit.</a:t>
            </a:r>
          </a:p>
          <a:p/>
          <a:p>
            <a:r>
              <a:t>Likely question: Where is your evaluation dataset?</a:t>
            </a:r>
          </a:p>
          <a:p>
            <a:r>
              <a:t>Answer: The repository contains synthetic demonstration records and test cases. Representative authorized agency data and independent validation remain future work.</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 Introduce the project and official submission identity.</a:t>
            </a:r>
          </a:p>
          <a:p/>
          <a:p>
            <a:r>
              <a:t>Speaker script: VEIL connects fragmented investigation-style records into a reviewable evidence graph. Our prototype links reports, call records, transactions and vehicles, then lets investigators inspect the source behind each lead. The demonstration uses synthetic data. Official problem and team details must be filled before submission.</a:t>
            </a:r>
          </a:p>
          <a:p/>
          <a:p>
            <a:r>
              <a:t>Judge takeaway: A working evidence workflow with human decision authority.</a:t>
            </a:r>
          </a:p>
          <a:p/>
          <a:p>
            <a:r>
              <a:t>Likely question: Is this deployed with an agency?</a:t>
            </a:r>
          </a:p>
          <a:p>
            <a:r>
              <a:t>Answer: No. This is a local prototype using synthetic records. Agency integration and validation remain future work.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hyperlink" Target="https://spacy.io/models/en#en_core_web_sm" TargetMode="External"/><Relationship Id="rId5" Type="http://schemas.openxmlformats.org/officeDocument/2006/relationships/hyperlink" Target="https://networkx.org/documentation/stable/reference/algorithms/shortest_paths.html" TargetMode="External"/><Relationship Id="rId6" Type="http://schemas.openxmlformats.org/officeDocument/2006/relationships/hyperlink" Target="https://scikit-learn.org/stable/modules/generated/sklearn.ensemble.IsolationForest.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38" name="TextBox 37"/>
          <p:cNvSpPr txBox="1"/>
          <p:nvPr/>
        </p:nvSpPr>
        <p:spPr>
          <a:xfrm>
            <a:off x="411480" y="2468880"/>
            <a:ext cx="6172200" cy="4069080"/>
          </a:xfrm>
          <a:prstGeom prst="rect">
            <a:avLst/>
          </a:prstGeom>
          <a:noFill/>
        </p:spPr>
        <p:txBody>
          <a:bodyPr wrap="square" lIns="27432" rIns="27432" tIns="18288" bIns="18288">
            <a:spAutoFit/>
          </a:bodyPr>
          <a:lstStyle/>
          <a:p>
            <a:pPr>
              <a:spcAft>
                <a:spcPts val="400"/>
              </a:spcAft>
              <a:defRPr sz="1900" b="1">
                <a:solidFill>
                  <a:srgbClr val="182333"/>
                </a:solidFill>
                <a:latin typeface="Arial"/>
              </a:defRPr>
            </a:pPr>
            <a:r>
              <a:t>Problem Statement ID: [TO FILL]</a:t>
            </a:r>
          </a:p>
          <a:p>
            <a:pPr>
              <a:spcAft>
                <a:spcPts val="400"/>
              </a:spcAft>
              <a:defRPr sz="1900" b="1">
                <a:solidFill>
                  <a:srgbClr val="182333"/>
                </a:solidFill>
                <a:latin typeface="Arial"/>
              </a:defRPr>
            </a:pPr>
            <a:r>
              <a:t>Problem Statement Title: [TO FILL]</a:t>
            </a:r>
          </a:p>
          <a:p>
            <a:pPr>
              <a:spcAft>
                <a:spcPts val="400"/>
              </a:spcAft>
              <a:defRPr sz="1900" b="1">
                <a:solidFill>
                  <a:srgbClr val="182333"/>
                </a:solidFill>
                <a:latin typeface="Arial"/>
              </a:defRPr>
            </a:pPr>
            <a:r>
              <a:t>Theme: [TO FILL]</a:t>
            </a:r>
          </a:p>
          <a:p>
            <a:pPr>
              <a:spcAft>
                <a:spcPts val="400"/>
              </a:spcAft>
              <a:defRPr sz="1900" b="1">
                <a:solidFill>
                  <a:srgbClr val="182333"/>
                </a:solidFill>
                <a:latin typeface="Arial"/>
              </a:defRPr>
            </a:pPr>
            <a:r>
              <a:t>PS Category: Software</a:t>
            </a:r>
          </a:p>
          <a:p>
            <a:pPr>
              <a:spcAft>
                <a:spcPts val="400"/>
              </a:spcAft>
              <a:defRPr sz="1900" b="1">
                <a:solidFill>
                  <a:srgbClr val="182333"/>
                </a:solidFill>
                <a:latin typeface="Arial"/>
              </a:defRPr>
            </a:pPr>
            <a:r>
              <a:t>Team ID: [TO FILL]</a:t>
            </a:r>
          </a:p>
          <a:p>
            <a:pPr>
              <a:spcAft>
                <a:spcPts val="400"/>
              </a:spcAft>
              <a:defRPr sz="1900" b="1">
                <a:solidFill>
                  <a:srgbClr val="182333"/>
                </a:solidFill>
                <a:latin typeface="Arial"/>
              </a:defRPr>
            </a:pPr>
            <a:r>
              <a:t>Team Name: [REGISTERED NAME]</a:t>
            </a:r>
          </a:p>
        </p:txBody>
      </p:sp>
      <p:sp>
        <p:nvSpPr>
          <p:cNvPr id="39" name="TextBox 38"/>
          <p:cNvSpPr txBox="1"/>
          <p:nvPr/>
        </p:nvSpPr>
        <p:spPr>
          <a:xfrm>
            <a:off x="502920" y="1947672"/>
            <a:ext cx="6217920" cy="420624"/>
          </a:xfrm>
          <a:prstGeom prst="rect">
            <a:avLst/>
          </a:prstGeom>
          <a:noFill/>
        </p:spPr>
        <p:txBody>
          <a:bodyPr wrap="square" lIns="27432" rIns="27432" tIns="18288" bIns="18288">
            <a:spAutoFit/>
          </a:bodyPr>
          <a:lstStyle/>
          <a:p>
            <a:pPr>
              <a:spcAft>
                <a:spcPts val="400"/>
              </a:spcAft>
              <a:defRPr sz="2100" b="1">
                <a:solidFill>
                  <a:srgbClr val="204F89"/>
                </a:solidFill>
                <a:latin typeface="Arial"/>
              </a:defRPr>
            </a:pPr>
            <a:r>
              <a:t>VEIL: Evidence-first investigation workspace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
            </a:r>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3600" b="1" dirty="0">
                <a:latin typeface="Times New Roman" panose="02020603050405020304" pitchFamily="18" charset="0"/>
                <a:ea typeface="ＭＳ Ｐゴシック" pitchFamily="1" charset="-128"/>
                <a:cs typeface="Times New Roman" panose="02020603050405020304" pitchFamily="18" charset="0"/>
              </a:rPr>
              <a:t>IDEA TITLE</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2" name="TextBox 15361"/>
          <p:cNvSpPr txBox="1"/>
          <p:nvPr/>
        </p:nvSpPr>
        <p:spPr>
          <a:xfrm>
            <a:off x="594360" y="1298448"/>
            <a:ext cx="10972800" cy="365760"/>
          </a:xfrm>
          <a:prstGeom prst="rect">
            <a:avLst/>
          </a:prstGeom>
          <a:noFill/>
        </p:spPr>
        <p:txBody>
          <a:bodyPr wrap="square" lIns="27432" rIns="27432" tIns="18288" bIns="18288">
            <a:spAutoFit/>
          </a:bodyPr>
          <a:lstStyle/>
          <a:p>
            <a:pPr>
              <a:spcAft>
                <a:spcPts val="400"/>
              </a:spcAft>
              <a:defRPr sz="2000" b="1">
                <a:solidFill>
                  <a:srgbClr val="204F89"/>
                </a:solidFill>
                <a:latin typeface="Arial"/>
              </a:defRPr>
            </a:pPr>
            <a:r>
              <a:t>Proposed Solution (Describe your Idea/Solution/Prototype)</a:t>
            </a:r>
          </a:p>
        </p:txBody>
      </p:sp>
      <p:sp>
        <p:nvSpPr>
          <p:cNvPr id="15363" name="TextBox 15362"/>
          <p:cNvSpPr txBox="1"/>
          <p:nvPr/>
        </p:nvSpPr>
        <p:spPr>
          <a:xfrm>
            <a:off x="594360" y="1810512"/>
            <a:ext cx="10972800" cy="530352"/>
          </a:xfrm>
          <a:prstGeom prst="rect">
            <a:avLst/>
          </a:prstGeom>
          <a:noFill/>
        </p:spPr>
        <p:txBody>
          <a:bodyPr wrap="square" lIns="27432" rIns="27432" tIns="18288" bIns="18288">
            <a:spAutoFit/>
          </a:bodyPr>
          <a:lstStyle/>
          <a:p>
            <a:pPr>
              <a:spcAft>
                <a:spcPts val="400"/>
              </a:spcAft>
              <a:defRPr sz="2300" b="1">
                <a:solidFill>
                  <a:srgbClr val="182333"/>
                </a:solidFill>
                <a:latin typeface="Arial"/>
              </a:defRPr>
            </a:pPr>
            <a:r>
              <a:t>VEIL connects separate records into entities, relationships and explainable leads.</a:t>
            </a:r>
          </a:p>
        </p:txBody>
      </p:sp>
      <p:sp>
        <p:nvSpPr>
          <p:cNvPr id="15364" name="TextBox 15363"/>
          <p:cNvSpPr txBox="1"/>
          <p:nvPr/>
        </p:nvSpPr>
        <p:spPr>
          <a:xfrm>
            <a:off x="594360" y="2578608"/>
            <a:ext cx="4846320" cy="594360"/>
          </a:xfrm>
          <a:prstGeom prst="rect">
            <a:avLst/>
          </a:prstGeom>
          <a:noFill/>
        </p:spPr>
        <p:txBody>
          <a:bodyPr wrap="square" lIns="27432" rIns="27432" tIns="18288" bIns="18288">
            <a:spAutoFit/>
          </a:bodyPr>
          <a:lstStyle/>
          <a:p>
            <a:pPr>
              <a:spcAft>
                <a:spcPts val="400"/>
              </a:spcAft>
              <a:defRPr sz="1700" b="1">
                <a:solidFill>
                  <a:srgbClr val="204F89"/>
                </a:solidFill>
                <a:latin typeface="Arial"/>
              </a:defRPr>
            </a:pPr>
            <a:r>
              <a:t>Detailed explanation of the proposed solution</a:t>
            </a:r>
          </a:p>
        </p:txBody>
      </p:sp>
      <p:sp>
        <p:nvSpPr>
          <p:cNvPr id="15365" name="TextBox 15364"/>
          <p:cNvSpPr txBox="1"/>
          <p:nvPr/>
        </p:nvSpPr>
        <p:spPr>
          <a:xfrm>
            <a:off x="594360" y="3227832"/>
            <a:ext cx="4663440" cy="777240"/>
          </a:xfrm>
          <a:prstGeom prst="rect">
            <a:avLst/>
          </a:prstGeom>
          <a:noFill/>
        </p:spPr>
        <p:txBody>
          <a:bodyPr wrap="square" lIns="27432" rIns="27432" tIns="18288" bIns="18288">
            <a:spAutoFit/>
          </a:bodyPr>
          <a:lstStyle/>
          <a:p>
            <a:pPr>
              <a:spcAft>
                <a:spcPts val="400"/>
              </a:spcAft>
              <a:defRPr sz="2000" b="0">
                <a:solidFill>
                  <a:srgbClr val="182333"/>
                </a:solidFill>
                <a:latin typeface="Arial"/>
              </a:defRPr>
            </a:pPr>
            <a:r>
              <a:t>Reports, CDR, transactions and vehicle records in one workspace.</a:t>
            </a:r>
          </a:p>
        </p:txBody>
      </p:sp>
      <p:sp>
        <p:nvSpPr>
          <p:cNvPr id="15366" name="TextBox 15365"/>
          <p:cNvSpPr txBox="1"/>
          <p:nvPr/>
        </p:nvSpPr>
        <p:spPr>
          <a:xfrm>
            <a:off x="594360" y="4005072"/>
            <a:ext cx="4846320" cy="365760"/>
          </a:xfrm>
          <a:prstGeom prst="rect">
            <a:avLst/>
          </a:prstGeom>
          <a:noFill/>
        </p:spPr>
        <p:txBody>
          <a:bodyPr wrap="square" lIns="27432" rIns="27432" tIns="18288" bIns="18288">
            <a:spAutoFit/>
          </a:bodyPr>
          <a:lstStyle/>
          <a:p>
            <a:pPr>
              <a:spcAft>
                <a:spcPts val="400"/>
              </a:spcAft>
              <a:defRPr sz="1800" b="1">
                <a:solidFill>
                  <a:srgbClr val="204F89"/>
                </a:solidFill>
                <a:latin typeface="Arial"/>
              </a:defRPr>
            </a:pPr>
            <a:r>
              <a:t>How it addresses the problem</a:t>
            </a:r>
          </a:p>
        </p:txBody>
      </p:sp>
      <p:sp>
        <p:nvSpPr>
          <p:cNvPr id="15367" name="TextBox 15366"/>
          <p:cNvSpPr txBox="1"/>
          <p:nvPr/>
        </p:nvSpPr>
        <p:spPr>
          <a:xfrm>
            <a:off x="594360" y="4416552"/>
            <a:ext cx="4663440" cy="804672"/>
          </a:xfrm>
          <a:prstGeom prst="rect">
            <a:avLst/>
          </a:prstGeom>
          <a:noFill/>
        </p:spPr>
        <p:txBody>
          <a:bodyPr wrap="square" lIns="27432" rIns="27432" tIns="18288" bIns="18288">
            <a:spAutoFit/>
          </a:bodyPr>
          <a:lstStyle/>
          <a:p>
            <a:pPr>
              <a:spcAft>
                <a:spcPts val="400"/>
              </a:spcAft>
              <a:defRPr sz="2100" b="0">
                <a:solidFill>
                  <a:srgbClr val="182333"/>
                </a:solidFill>
                <a:latin typeface="Arial"/>
              </a:defRPr>
            </a:pPr>
            <a:r>
              <a:t>Investigators can follow a connection and open its exact source record.</a:t>
            </a:r>
          </a:p>
        </p:txBody>
      </p:sp>
      <p:pic>
        <p:nvPicPr>
          <p:cNvPr id="15368" name="Picture 15367" descr="03-network-path.png"/>
          <p:cNvPicPr>
            <a:picLocks noChangeAspect="1"/>
          </p:cNvPicPr>
          <p:nvPr/>
        </p:nvPicPr>
        <p:blipFill>
          <a:blip r:embed="rId4"/>
          <a:stretch>
            <a:fillRect/>
          </a:stretch>
        </p:blipFill>
        <p:spPr>
          <a:xfrm>
            <a:off x="5532120" y="2532888"/>
            <a:ext cx="6035040" cy="3393053"/>
          </a:xfrm>
          <a:prstGeom prst="rect">
            <a:avLst/>
          </a:prstGeom>
        </p:spPr>
      </p:pic>
      <p:sp>
        <p:nvSpPr>
          <p:cNvPr id="15369" name="TextBox 15368"/>
          <p:cNvSpPr txBox="1"/>
          <p:nvPr/>
        </p:nvSpPr>
        <p:spPr>
          <a:xfrm>
            <a:off x="5532120" y="5943600"/>
            <a:ext cx="6035040" cy="274320"/>
          </a:xfrm>
          <a:prstGeom prst="rect">
            <a:avLst/>
          </a:prstGeom>
          <a:noFill/>
        </p:spPr>
        <p:txBody>
          <a:bodyPr wrap="square" lIns="27432" rIns="27432" tIns="18288" bIns="18288">
            <a:spAutoFit/>
          </a:bodyPr>
          <a:lstStyle/>
          <a:p>
            <a:pPr>
              <a:spcAft>
                <a:spcPts val="400"/>
              </a:spcAft>
              <a:defRPr sz="1200" b="0">
                <a:solidFill>
                  <a:srgbClr val="182333"/>
                </a:solidFill>
                <a:latin typeface="Arial"/>
              </a:defRPr>
            </a:pPr>
            <a:r>
              <a:t>Actual prototype: a computed, sourced association path. Synthetic data.</a:t>
            </a:r>
          </a:p>
        </p:txBody>
      </p:sp>
      <p:sp>
        <p:nvSpPr>
          <p:cNvPr id="15370" name="TextBox 15369"/>
          <p:cNvSpPr txBox="1"/>
          <p:nvPr/>
        </p:nvSpPr>
        <p:spPr>
          <a:xfrm>
            <a:off x="594360" y="5358384"/>
            <a:ext cx="4846320" cy="320040"/>
          </a:xfrm>
          <a:prstGeom prst="rect">
            <a:avLst/>
          </a:prstGeom>
          <a:noFill/>
        </p:spPr>
        <p:txBody>
          <a:bodyPr wrap="square" lIns="27432" rIns="27432" tIns="18288" bIns="18288">
            <a:spAutoFit/>
          </a:bodyPr>
          <a:lstStyle/>
          <a:p>
            <a:pPr>
              <a:spcAft>
                <a:spcPts val="400"/>
              </a:spcAft>
              <a:defRPr sz="1800" b="1">
                <a:solidFill>
                  <a:srgbClr val="204F89"/>
                </a:solidFill>
                <a:latin typeface="Arial"/>
              </a:defRPr>
            </a:pPr>
            <a:r>
              <a:t>Innovation and uniqueness of the solution</a:t>
            </a:r>
          </a:p>
        </p:txBody>
      </p:sp>
      <p:sp>
        <p:nvSpPr>
          <p:cNvPr id="15371" name="TextBox 15370"/>
          <p:cNvSpPr txBox="1"/>
          <p:nvPr/>
        </p:nvSpPr>
        <p:spPr>
          <a:xfrm>
            <a:off x="594360" y="5715000"/>
            <a:ext cx="4663440" cy="502920"/>
          </a:xfrm>
          <a:prstGeom prst="rect">
            <a:avLst/>
          </a:prstGeom>
          <a:noFill/>
        </p:spPr>
        <p:txBody>
          <a:bodyPr wrap="square" lIns="27432" rIns="27432" tIns="18288" bIns="18288">
            <a:spAutoFit/>
          </a:bodyPr>
          <a:lstStyle/>
          <a:p>
            <a:pPr>
              <a:spcAft>
                <a:spcPts val="400"/>
              </a:spcAft>
              <a:defRPr sz="1700" b="0">
                <a:solidFill>
                  <a:srgbClr val="182333"/>
                </a:solidFill>
                <a:latin typeface="Arial"/>
              </a:defRPr>
            </a:pPr>
            <a:r>
              <a:t>Cross-source graph + provenance + reversible human review.</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594360" y="1298448"/>
            <a:ext cx="10972800" cy="365760"/>
          </a:xfrm>
          <a:prstGeom prst="rect">
            <a:avLst/>
          </a:prstGeom>
          <a:noFill/>
        </p:spPr>
        <p:txBody>
          <a:bodyPr wrap="square" lIns="27432" rIns="27432" tIns="18288" bIns="18288">
            <a:spAutoFit/>
          </a:bodyPr>
          <a:lstStyle/>
          <a:p>
            <a:pPr>
              <a:spcAft>
                <a:spcPts val="400"/>
              </a:spcAft>
              <a:defRPr sz="2000" b="1">
                <a:solidFill>
                  <a:srgbClr val="204F89"/>
                </a:solidFill>
                <a:latin typeface="Arial"/>
              </a:defRPr>
            </a:pPr>
            <a:r>
              <a:t>Technologies to be used</a:t>
            </a:r>
          </a:p>
        </p:txBody>
      </p:sp>
      <p:sp>
        <p:nvSpPr>
          <p:cNvPr id="17411" name="TextBox 17410"/>
          <p:cNvSpPr txBox="1"/>
          <p:nvPr/>
        </p:nvSpPr>
        <p:spPr>
          <a:xfrm>
            <a:off x="594360" y="1764792"/>
            <a:ext cx="10972800" cy="731520"/>
          </a:xfrm>
          <a:prstGeom prst="rect">
            <a:avLst/>
          </a:prstGeom>
          <a:noFill/>
        </p:spPr>
        <p:txBody>
          <a:bodyPr wrap="square" lIns="27432" rIns="27432" tIns="18288" bIns="18288">
            <a:spAutoFit/>
          </a:bodyPr>
          <a:lstStyle/>
          <a:p>
            <a:pPr>
              <a:spcAft>
                <a:spcPts val="400"/>
              </a:spcAft>
              <a:defRPr sz="1800" b="0">
                <a:solidFill>
                  <a:srgbClr val="182333"/>
                </a:solidFill>
                <a:latin typeface="Arial"/>
              </a:defRPr>
            </a:pPr>
            <a:r>
              <a:t>React / TypeScript / Cytoscape: investigator interface</a:t>
            </a:r>
          </a:p>
          <a:p>
            <a:pPr>
              <a:spcAft>
                <a:spcPts val="400"/>
              </a:spcAft>
              <a:defRPr sz="1800" b="0">
                <a:solidFill>
                  <a:srgbClr val="182333"/>
                </a:solidFill>
                <a:latin typeface="Arial"/>
              </a:defRPr>
            </a:pPr>
            <a:r>
              <a:t>Python / FastAPI / NetworkX: APIs and graph analysis; JSON + SQLite: records and decisions</a:t>
            </a:r>
          </a:p>
        </p:txBody>
      </p:sp>
      <p:sp>
        <p:nvSpPr>
          <p:cNvPr id="17412" name="TextBox 17411"/>
          <p:cNvSpPr txBox="1"/>
          <p:nvPr/>
        </p:nvSpPr>
        <p:spPr>
          <a:xfrm>
            <a:off x="594360" y="2715768"/>
            <a:ext cx="10972800" cy="365760"/>
          </a:xfrm>
          <a:prstGeom prst="rect">
            <a:avLst/>
          </a:prstGeom>
          <a:noFill/>
        </p:spPr>
        <p:txBody>
          <a:bodyPr wrap="square" lIns="27432" rIns="27432" tIns="18288" bIns="18288">
            <a:spAutoFit/>
          </a:bodyPr>
          <a:lstStyle/>
          <a:p>
            <a:pPr>
              <a:spcAft>
                <a:spcPts val="400"/>
              </a:spcAft>
              <a:defRPr sz="2000" b="1">
                <a:solidFill>
                  <a:srgbClr val="204F89"/>
                </a:solidFill>
                <a:latin typeface="Arial"/>
              </a:defRPr>
            </a:pPr>
            <a:r>
              <a:t>Methodology and process for implementation</a:t>
            </a:r>
          </a:p>
        </p:txBody>
      </p:sp>
      <p:sp>
        <p:nvSpPr>
          <p:cNvPr id="17413" name="Rectangle 17412"/>
          <p:cNvSpPr/>
          <p:nvPr/>
        </p:nvSpPr>
        <p:spPr>
          <a:xfrm>
            <a:off x="594360" y="3246120"/>
            <a:ext cx="1664208" cy="576072"/>
          </a:xfrm>
          <a:prstGeom prst="rect">
            <a:avLst/>
          </a:prstGeom>
          <a:solidFill>
            <a:srgbClr val="EDF3F8"/>
          </a:solidFill>
          <a:ln>
            <a:solidFill>
              <a:srgbClr val="204F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4" name="TextBox 17413"/>
          <p:cNvSpPr txBox="1"/>
          <p:nvPr/>
        </p:nvSpPr>
        <p:spPr>
          <a:xfrm>
            <a:off x="649224" y="3374136"/>
            <a:ext cx="1554480" cy="347472"/>
          </a:xfrm>
          <a:prstGeom prst="rect">
            <a:avLst/>
          </a:prstGeom>
          <a:noFill/>
        </p:spPr>
        <p:txBody>
          <a:bodyPr wrap="square" lIns="27432" rIns="27432" tIns="18288" bIns="18288">
            <a:spAutoFit/>
          </a:bodyPr>
          <a:lstStyle/>
          <a:p>
            <a:pPr>
              <a:spcAft>
                <a:spcPts val="400"/>
              </a:spcAft>
              <a:defRPr sz="1500" b="1">
                <a:solidFill>
                  <a:srgbClr val="204F89"/>
                </a:solidFill>
                <a:latin typeface="Arial"/>
              </a:defRPr>
            </a:pPr>
            <a:r>
              <a:t>Source files</a:t>
            </a:r>
          </a:p>
        </p:txBody>
      </p:sp>
      <p:sp>
        <p:nvSpPr>
          <p:cNvPr id="17415" name="TextBox 17414"/>
          <p:cNvSpPr txBox="1"/>
          <p:nvPr/>
        </p:nvSpPr>
        <p:spPr>
          <a:xfrm>
            <a:off x="2276856" y="3364992"/>
            <a:ext cx="228600" cy="320040"/>
          </a:xfrm>
          <a:prstGeom prst="rect">
            <a:avLst/>
          </a:prstGeom>
          <a:noFill/>
        </p:spPr>
        <p:txBody>
          <a:bodyPr wrap="square" lIns="27432" rIns="27432" tIns="18288" bIns="18288">
            <a:spAutoFit/>
          </a:bodyPr>
          <a:lstStyle/>
          <a:p>
            <a:pPr>
              <a:spcAft>
                <a:spcPts val="400"/>
              </a:spcAft>
              <a:defRPr sz="2000" b="1">
                <a:solidFill>
                  <a:srgbClr val="204F89"/>
                </a:solidFill>
                <a:latin typeface="Arial"/>
              </a:defRPr>
            </a:pPr>
            <a:r>
              <a:t>›</a:t>
            </a:r>
          </a:p>
        </p:txBody>
      </p:sp>
      <p:sp>
        <p:nvSpPr>
          <p:cNvPr id="17416" name="Rectangle 17415"/>
          <p:cNvSpPr/>
          <p:nvPr/>
        </p:nvSpPr>
        <p:spPr>
          <a:xfrm>
            <a:off x="2468879" y="3246120"/>
            <a:ext cx="1664208" cy="576072"/>
          </a:xfrm>
          <a:prstGeom prst="rect">
            <a:avLst/>
          </a:prstGeom>
          <a:solidFill>
            <a:srgbClr val="EDF3F8"/>
          </a:solidFill>
          <a:ln>
            <a:solidFill>
              <a:srgbClr val="204F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7" name="TextBox 17416"/>
          <p:cNvSpPr txBox="1"/>
          <p:nvPr/>
        </p:nvSpPr>
        <p:spPr>
          <a:xfrm>
            <a:off x="2523744" y="3374136"/>
            <a:ext cx="1554480" cy="347472"/>
          </a:xfrm>
          <a:prstGeom prst="rect">
            <a:avLst/>
          </a:prstGeom>
          <a:noFill/>
        </p:spPr>
        <p:txBody>
          <a:bodyPr wrap="square" lIns="27432" rIns="27432" tIns="18288" bIns="18288">
            <a:spAutoFit/>
          </a:bodyPr>
          <a:lstStyle/>
          <a:p>
            <a:pPr>
              <a:spcAft>
                <a:spcPts val="400"/>
              </a:spcAft>
              <a:defRPr sz="1500" b="1">
                <a:solidFill>
                  <a:srgbClr val="204F89"/>
                </a:solidFill>
                <a:latin typeface="Arial"/>
              </a:defRPr>
            </a:pPr>
            <a:r>
              <a:t>Parse + extract</a:t>
            </a:r>
          </a:p>
        </p:txBody>
      </p:sp>
      <p:sp>
        <p:nvSpPr>
          <p:cNvPr id="17418" name="TextBox 17417"/>
          <p:cNvSpPr txBox="1"/>
          <p:nvPr/>
        </p:nvSpPr>
        <p:spPr>
          <a:xfrm>
            <a:off x="4151376" y="3364992"/>
            <a:ext cx="228600" cy="320040"/>
          </a:xfrm>
          <a:prstGeom prst="rect">
            <a:avLst/>
          </a:prstGeom>
          <a:noFill/>
        </p:spPr>
        <p:txBody>
          <a:bodyPr wrap="square" lIns="27432" rIns="27432" tIns="18288" bIns="18288">
            <a:spAutoFit/>
          </a:bodyPr>
          <a:lstStyle/>
          <a:p>
            <a:pPr>
              <a:spcAft>
                <a:spcPts val="400"/>
              </a:spcAft>
              <a:defRPr sz="2000" b="1">
                <a:solidFill>
                  <a:srgbClr val="204F89"/>
                </a:solidFill>
                <a:latin typeface="Arial"/>
              </a:defRPr>
            </a:pPr>
            <a:r>
              <a:t>›</a:t>
            </a:r>
          </a:p>
        </p:txBody>
      </p:sp>
      <p:sp>
        <p:nvSpPr>
          <p:cNvPr id="17419" name="Rectangle 17418"/>
          <p:cNvSpPr/>
          <p:nvPr/>
        </p:nvSpPr>
        <p:spPr>
          <a:xfrm>
            <a:off x="4343400" y="3246120"/>
            <a:ext cx="1664208" cy="576072"/>
          </a:xfrm>
          <a:prstGeom prst="rect">
            <a:avLst/>
          </a:prstGeom>
          <a:solidFill>
            <a:srgbClr val="EDF3F8"/>
          </a:solidFill>
          <a:ln>
            <a:solidFill>
              <a:srgbClr val="204F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0" name="TextBox 17419"/>
          <p:cNvSpPr txBox="1"/>
          <p:nvPr/>
        </p:nvSpPr>
        <p:spPr>
          <a:xfrm>
            <a:off x="4398264" y="3374136"/>
            <a:ext cx="1554480" cy="347472"/>
          </a:xfrm>
          <a:prstGeom prst="rect">
            <a:avLst/>
          </a:prstGeom>
          <a:noFill/>
        </p:spPr>
        <p:txBody>
          <a:bodyPr wrap="square" lIns="27432" rIns="27432" tIns="18288" bIns="18288">
            <a:spAutoFit/>
          </a:bodyPr>
          <a:lstStyle/>
          <a:p>
            <a:pPr>
              <a:spcAft>
                <a:spcPts val="400"/>
              </a:spcAft>
              <a:defRPr sz="1500" b="1">
                <a:solidFill>
                  <a:srgbClr val="204F89"/>
                </a:solidFill>
                <a:latin typeface="Arial"/>
              </a:defRPr>
            </a:pPr>
            <a:r>
              <a:t>Review identity</a:t>
            </a:r>
          </a:p>
        </p:txBody>
      </p:sp>
      <p:sp>
        <p:nvSpPr>
          <p:cNvPr id="17421" name="TextBox 17420"/>
          <p:cNvSpPr txBox="1"/>
          <p:nvPr/>
        </p:nvSpPr>
        <p:spPr>
          <a:xfrm>
            <a:off x="6025896" y="3364992"/>
            <a:ext cx="228600" cy="320040"/>
          </a:xfrm>
          <a:prstGeom prst="rect">
            <a:avLst/>
          </a:prstGeom>
          <a:noFill/>
        </p:spPr>
        <p:txBody>
          <a:bodyPr wrap="square" lIns="27432" rIns="27432" tIns="18288" bIns="18288">
            <a:spAutoFit/>
          </a:bodyPr>
          <a:lstStyle/>
          <a:p>
            <a:pPr>
              <a:spcAft>
                <a:spcPts val="400"/>
              </a:spcAft>
              <a:defRPr sz="2000" b="1">
                <a:solidFill>
                  <a:srgbClr val="204F89"/>
                </a:solidFill>
                <a:latin typeface="Arial"/>
              </a:defRPr>
            </a:pPr>
            <a:r>
              <a:t>›</a:t>
            </a:r>
          </a:p>
        </p:txBody>
      </p:sp>
      <p:sp>
        <p:nvSpPr>
          <p:cNvPr id="17422" name="Rectangle 17421"/>
          <p:cNvSpPr/>
          <p:nvPr/>
        </p:nvSpPr>
        <p:spPr>
          <a:xfrm>
            <a:off x="6217920" y="3246120"/>
            <a:ext cx="1664208" cy="576072"/>
          </a:xfrm>
          <a:prstGeom prst="rect">
            <a:avLst/>
          </a:prstGeom>
          <a:solidFill>
            <a:srgbClr val="EDF3F8"/>
          </a:solidFill>
          <a:ln>
            <a:solidFill>
              <a:srgbClr val="204F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3" name="TextBox 17422"/>
          <p:cNvSpPr txBox="1"/>
          <p:nvPr/>
        </p:nvSpPr>
        <p:spPr>
          <a:xfrm>
            <a:off x="6272783" y="3374136"/>
            <a:ext cx="1554480" cy="347472"/>
          </a:xfrm>
          <a:prstGeom prst="rect">
            <a:avLst/>
          </a:prstGeom>
          <a:noFill/>
        </p:spPr>
        <p:txBody>
          <a:bodyPr wrap="square" lIns="27432" rIns="27432" tIns="18288" bIns="18288">
            <a:spAutoFit/>
          </a:bodyPr>
          <a:lstStyle/>
          <a:p>
            <a:pPr>
              <a:spcAft>
                <a:spcPts val="400"/>
              </a:spcAft>
              <a:defRPr sz="1500" b="1">
                <a:solidFill>
                  <a:srgbClr val="204F89"/>
                </a:solidFill>
                <a:latin typeface="Arial"/>
              </a:defRPr>
            </a:pPr>
            <a:r>
              <a:t>Evidence graph</a:t>
            </a:r>
          </a:p>
        </p:txBody>
      </p:sp>
      <p:sp>
        <p:nvSpPr>
          <p:cNvPr id="17424" name="TextBox 17423"/>
          <p:cNvSpPr txBox="1"/>
          <p:nvPr/>
        </p:nvSpPr>
        <p:spPr>
          <a:xfrm>
            <a:off x="7900416" y="3364992"/>
            <a:ext cx="228600" cy="320040"/>
          </a:xfrm>
          <a:prstGeom prst="rect">
            <a:avLst/>
          </a:prstGeom>
          <a:noFill/>
        </p:spPr>
        <p:txBody>
          <a:bodyPr wrap="square" lIns="27432" rIns="27432" tIns="18288" bIns="18288">
            <a:spAutoFit/>
          </a:bodyPr>
          <a:lstStyle/>
          <a:p>
            <a:pPr>
              <a:spcAft>
                <a:spcPts val="400"/>
              </a:spcAft>
              <a:defRPr sz="2000" b="1">
                <a:solidFill>
                  <a:srgbClr val="204F89"/>
                </a:solidFill>
                <a:latin typeface="Arial"/>
              </a:defRPr>
            </a:pPr>
            <a:r>
              <a:t>›</a:t>
            </a:r>
          </a:p>
        </p:txBody>
      </p:sp>
      <p:sp>
        <p:nvSpPr>
          <p:cNvPr id="17425" name="Rectangle 17424"/>
          <p:cNvSpPr/>
          <p:nvPr/>
        </p:nvSpPr>
        <p:spPr>
          <a:xfrm>
            <a:off x="8092440" y="3246120"/>
            <a:ext cx="1664208" cy="576072"/>
          </a:xfrm>
          <a:prstGeom prst="rect">
            <a:avLst/>
          </a:prstGeom>
          <a:solidFill>
            <a:srgbClr val="EDF3F8"/>
          </a:solidFill>
          <a:ln>
            <a:solidFill>
              <a:srgbClr val="204F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6" name="TextBox 17425"/>
          <p:cNvSpPr txBox="1"/>
          <p:nvPr/>
        </p:nvSpPr>
        <p:spPr>
          <a:xfrm>
            <a:off x="8147304" y="3374136"/>
            <a:ext cx="1554480" cy="347472"/>
          </a:xfrm>
          <a:prstGeom prst="rect">
            <a:avLst/>
          </a:prstGeom>
          <a:noFill/>
        </p:spPr>
        <p:txBody>
          <a:bodyPr wrap="square" lIns="27432" rIns="27432" tIns="18288" bIns="18288">
            <a:spAutoFit/>
          </a:bodyPr>
          <a:lstStyle/>
          <a:p>
            <a:pPr>
              <a:spcAft>
                <a:spcPts val="400"/>
              </a:spcAft>
              <a:defRPr sz="1500" b="1">
                <a:solidFill>
                  <a:srgbClr val="204F89"/>
                </a:solidFill>
                <a:latin typeface="Arial"/>
              </a:defRPr>
            </a:pPr>
            <a:r>
              <a:t>Signals + leads</a:t>
            </a:r>
          </a:p>
        </p:txBody>
      </p:sp>
      <p:sp>
        <p:nvSpPr>
          <p:cNvPr id="17427" name="TextBox 17426"/>
          <p:cNvSpPr txBox="1"/>
          <p:nvPr/>
        </p:nvSpPr>
        <p:spPr>
          <a:xfrm>
            <a:off x="9774936" y="3364992"/>
            <a:ext cx="228600" cy="320040"/>
          </a:xfrm>
          <a:prstGeom prst="rect">
            <a:avLst/>
          </a:prstGeom>
          <a:noFill/>
        </p:spPr>
        <p:txBody>
          <a:bodyPr wrap="square" lIns="27432" rIns="27432" tIns="18288" bIns="18288">
            <a:spAutoFit/>
          </a:bodyPr>
          <a:lstStyle/>
          <a:p>
            <a:pPr>
              <a:spcAft>
                <a:spcPts val="400"/>
              </a:spcAft>
              <a:defRPr sz="2000" b="1">
                <a:solidFill>
                  <a:srgbClr val="204F89"/>
                </a:solidFill>
                <a:latin typeface="Arial"/>
              </a:defRPr>
            </a:pPr>
            <a:r>
              <a:t>›</a:t>
            </a:r>
          </a:p>
        </p:txBody>
      </p:sp>
      <p:sp>
        <p:nvSpPr>
          <p:cNvPr id="17428" name="Rectangle 17427"/>
          <p:cNvSpPr/>
          <p:nvPr/>
        </p:nvSpPr>
        <p:spPr>
          <a:xfrm>
            <a:off x="9966960" y="3246120"/>
            <a:ext cx="1664208" cy="576072"/>
          </a:xfrm>
          <a:prstGeom prst="rect">
            <a:avLst/>
          </a:prstGeom>
          <a:solidFill>
            <a:srgbClr val="EDF3F8"/>
          </a:solidFill>
          <a:ln>
            <a:solidFill>
              <a:srgbClr val="204F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9" name="TextBox 17428"/>
          <p:cNvSpPr txBox="1"/>
          <p:nvPr/>
        </p:nvSpPr>
        <p:spPr>
          <a:xfrm>
            <a:off x="10021824" y="3374136"/>
            <a:ext cx="1554480" cy="347472"/>
          </a:xfrm>
          <a:prstGeom prst="rect">
            <a:avLst/>
          </a:prstGeom>
          <a:noFill/>
        </p:spPr>
        <p:txBody>
          <a:bodyPr wrap="square" lIns="27432" rIns="27432" tIns="18288" bIns="18288">
            <a:spAutoFit/>
          </a:bodyPr>
          <a:lstStyle/>
          <a:p>
            <a:pPr>
              <a:spcAft>
                <a:spcPts val="400"/>
              </a:spcAft>
              <a:defRPr sz="1500" b="1">
                <a:solidFill>
                  <a:srgbClr val="204F89"/>
                </a:solidFill>
                <a:latin typeface="Arial"/>
              </a:defRPr>
            </a:pPr>
            <a:r>
              <a:t>Human review</a:t>
            </a:r>
          </a:p>
        </p:txBody>
      </p:sp>
      <p:sp>
        <p:nvSpPr>
          <p:cNvPr id="17430" name="TextBox 17429"/>
          <p:cNvSpPr txBox="1"/>
          <p:nvPr/>
        </p:nvSpPr>
        <p:spPr>
          <a:xfrm>
            <a:off x="594360" y="4096512"/>
            <a:ext cx="2468880" cy="411480"/>
          </a:xfrm>
          <a:prstGeom prst="rect">
            <a:avLst/>
          </a:prstGeom>
          <a:noFill/>
        </p:spPr>
        <p:txBody>
          <a:bodyPr wrap="square" lIns="27432" rIns="27432" tIns="18288" bIns="18288">
            <a:spAutoFit/>
          </a:bodyPr>
          <a:lstStyle/>
          <a:p>
            <a:pPr>
              <a:spcAft>
                <a:spcPts val="400"/>
              </a:spcAft>
              <a:defRPr sz="1700" b="1">
                <a:solidFill>
                  <a:srgbClr val="204F89"/>
                </a:solidFill>
                <a:latin typeface="Arial"/>
              </a:defRPr>
            </a:pPr>
            <a:r>
              <a:t>ML / NLP</a:t>
            </a:r>
          </a:p>
        </p:txBody>
      </p:sp>
      <p:sp>
        <p:nvSpPr>
          <p:cNvPr id="17431" name="TextBox 17430"/>
          <p:cNvSpPr txBox="1"/>
          <p:nvPr/>
        </p:nvSpPr>
        <p:spPr>
          <a:xfrm>
            <a:off x="3108960" y="4096512"/>
            <a:ext cx="8412480" cy="448056"/>
          </a:xfrm>
          <a:prstGeom prst="rect">
            <a:avLst/>
          </a:prstGeom>
          <a:noFill/>
        </p:spPr>
        <p:txBody>
          <a:bodyPr wrap="square" lIns="27432" rIns="27432" tIns="18288" bIns="18288">
            <a:spAutoFit/>
          </a:bodyPr>
          <a:lstStyle/>
          <a:p>
            <a:pPr>
              <a:spcAft>
                <a:spcPts val="400"/>
              </a:spcAft>
              <a:defRPr sz="1700" b="0">
                <a:solidFill>
                  <a:srgbClr val="182333"/>
                </a:solidFill>
                <a:latin typeface="Arial"/>
              </a:defRPr>
            </a:pPr>
            <a:r>
              <a:t>spaCy en_core_web_sm extracts report entities; regex extracts structured identifiers.</a:t>
            </a:r>
          </a:p>
        </p:txBody>
      </p:sp>
      <p:sp>
        <p:nvSpPr>
          <p:cNvPr id="17432" name="TextBox 17431"/>
          <p:cNvSpPr txBox="1"/>
          <p:nvPr/>
        </p:nvSpPr>
        <p:spPr>
          <a:xfrm>
            <a:off x="594360" y="4599432"/>
            <a:ext cx="2468880" cy="411480"/>
          </a:xfrm>
          <a:prstGeom prst="rect">
            <a:avLst/>
          </a:prstGeom>
          <a:noFill/>
        </p:spPr>
        <p:txBody>
          <a:bodyPr wrap="square" lIns="27432" rIns="27432" tIns="18288" bIns="18288">
            <a:spAutoFit/>
          </a:bodyPr>
          <a:lstStyle/>
          <a:p>
            <a:pPr>
              <a:spcAft>
                <a:spcPts val="400"/>
              </a:spcAft>
              <a:defRPr sz="1700" b="1">
                <a:solidFill>
                  <a:srgbClr val="204F89"/>
                </a:solidFill>
                <a:latin typeface="Arial"/>
              </a:defRPr>
            </a:pPr>
            <a:r>
              <a:t>Graph algorithms</a:t>
            </a:r>
          </a:p>
        </p:txBody>
      </p:sp>
      <p:sp>
        <p:nvSpPr>
          <p:cNvPr id="17433" name="TextBox 17432"/>
          <p:cNvSpPr txBox="1"/>
          <p:nvPr/>
        </p:nvSpPr>
        <p:spPr>
          <a:xfrm>
            <a:off x="3108960" y="4599432"/>
            <a:ext cx="8412480" cy="448056"/>
          </a:xfrm>
          <a:prstGeom prst="rect">
            <a:avLst/>
          </a:prstGeom>
          <a:noFill/>
        </p:spPr>
        <p:txBody>
          <a:bodyPr wrap="square" lIns="27432" rIns="27432" tIns="18288" bIns="18288">
            <a:spAutoFit/>
          </a:bodyPr>
          <a:lstStyle/>
          <a:p>
            <a:pPr>
              <a:spcAft>
                <a:spcPts val="400"/>
              </a:spcAft>
              <a:defRPr sz="1700" b="0">
                <a:solidFill>
                  <a:srgbClr val="182333"/>
                </a:solidFill>
                <a:latin typeface="Arial"/>
              </a:defRPr>
            </a:pPr>
            <a:r>
              <a:t>Bounded shortest paths and connected components expose recorded associations.</a:t>
            </a:r>
          </a:p>
        </p:txBody>
      </p:sp>
      <p:sp>
        <p:nvSpPr>
          <p:cNvPr id="17434" name="TextBox 17433"/>
          <p:cNvSpPr txBox="1"/>
          <p:nvPr/>
        </p:nvSpPr>
        <p:spPr>
          <a:xfrm>
            <a:off x="594360" y="5102352"/>
            <a:ext cx="2468880" cy="411480"/>
          </a:xfrm>
          <a:prstGeom prst="rect">
            <a:avLst/>
          </a:prstGeom>
          <a:noFill/>
        </p:spPr>
        <p:txBody>
          <a:bodyPr wrap="square" lIns="27432" rIns="27432" tIns="18288" bIns="18288">
            <a:spAutoFit/>
          </a:bodyPr>
          <a:lstStyle/>
          <a:p>
            <a:pPr>
              <a:spcAft>
                <a:spcPts val="400"/>
              </a:spcAft>
              <a:defRPr sz="1700" b="1">
                <a:solidFill>
                  <a:srgbClr val="204F89"/>
                </a:solidFill>
                <a:latin typeface="Arial"/>
              </a:defRPr>
            </a:pPr>
            <a:r>
              <a:t>Rules + statistical ML</a:t>
            </a:r>
          </a:p>
        </p:txBody>
      </p:sp>
      <p:sp>
        <p:nvSpPr>
          <p:cNvPr id="17435" name="TextBox 17434"/>
          <p:cNvSpPr txBox="1"/>
          <p:nvPr/>
        </p:nvSpPr>
        <p:spPr>
          <a:xfrm>
            <a:off x="3108960" y="5102352"/>
            <a:ext cx="8412480" cy="448056"/>
          </a:xfrm>
          <a:prstGeom prst="rect">
            <a:avLst/>
          </a:prstGeom>
          <a:noFill/>
        </p:spPr>
        <p:txBody>
          <a:bodyPr wrap="square" lIns="27432" rIns="27432" tIns="18288" bIns="18288">
            <a:spAutoFit/>
          </a:bodyPr>
          <a:lstStyle/>
          <a:p>
            <a:pPr>
              <a:spcAft>
                <a:spcPts val="400"/>
              </a:spcAft>
              <a:defRPr sz="1700" b="0">
                <a:solidFill>
                  <a:srgbClr val="182333"/>
                </a:solidFill>
                <a:latin typeface="Arial"/>
              </a:defRPr>
            </a:pPr>
            <a:r>
              <a:t>Temporal rules generate leads. Isolation Forest supports secondary anomaly triage.</a:t>
            </a:r>
          </a:p>
        </p:txBody>
      </p:sp>
      <p:sp>
        <p:nvSpPr>
          <p:cNvPr id="17436" name="TextBox 17435"/>
          <p:cNvSpPr txBox="1"/>
          <p:nvPr/>
        </p:nvSpPr>
        <p:spPr>
          <a:xfrm>
            <a:off x="594360" y="5605272"/>
            <a:ext cx="2468880" cy="411480"/>
          </a:xfrm>
          <a:prstGeom prst="rect">
            <a:avLst/>
          </a:prstGeom>
          <a:noFill/>
        </p:spPr>
        <p:txBody>
          <a:bodyPr wrap="square" lIns="27432" rIns="27432" tIns="18288" bIns="18288">
            <a:spAutoFit/>
          </a:bodyPr>
          <a:lstStyle/>
          <a:p>
            <a:pPr>
              <a:spcAft>
                <a:spcPts val="400"/>
              </a:spcAft>
              <a:defRPr sz="1700" b="1">
                <a:solidFill>
                  <a:srgbClr val="204F89"/>
                </a:solidFill>
                <a:latin typeface="Arial"/>
              </a:defRPr>
            </a:pPr>
            <a:r>
              <a:t>Human decision</a:t>
            </a:r>
          </a:p>
        </p:txBody>
      </p:sp>
      <p:sp>
        <p:nvSpPr>
          <p:cNvPr id="17437" name="TextBox 17436"/>
          <p:cNvSpPr txBox="1"/>
          <p:nvPr/>
        </p:nvSpPr>
        <p:spPr>
          <a:xfrm>
            <a:off x="3108960" y="5605272"/>
            <a:ext cx="8412480" cy="448056"/>
          </a:xfrm>
          <a:prstGeom prst="rect">
            <a:avLst/>
          </a:prstGeom>
          <a:noFill/>
        </p:spPr>
        <p:txBody>
          <a:bodyPr wrap="square" lIns="27432" rIns="27432" tIns="18288" bIns="18288">
            <a:spAutoFit/>
          </a:bodyPr>
          <a:lstStyle/>
          <a:p>
            <a:pPr>
              <a:spcAft>
                <a:spcPts val="400"/>
              </a:spcAft>
              <a:defRPr sz="1700" b="0">
                <a:solidFill>
                  <a:srgbClr val="182333"/>
                </a:solidFill>
                <a:latin typeface="Arial"/>
              </a:defRPr>
            </a:pPr>
            <a:r>
              <a:t>Review uncertain mentions, inspect source evidence, confirm or reject, retain audit history.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594360" y="1307592"/>
            <a:ext cx="10972800" cy="365760"/>
          </a:xfrm>
          <a:prstGeom prst="rect">
            <a:avLst/>
          </a:prstGeom>
          <a:noFill/>
        </p:spPr>
        <p:txBody>
          <a:bodyPr wrap="square" lIns="27432" rIns="27432" tIns="18288" bIns="18288">
            <a:spAutoFit/>
          </a:bodyPr>
          <a:lstStyle/>
          <a:p>
            <a:pPr>
              <a:spcAft>
                <a:spcPts val="400"/>
              </a:spcAft>
              <a:defRPr sz="2000" b="1">
                <a:solidFill>
                  <a:srgbClr val="204F89"/>
                </a:solidFill>
                <a:latin typeface="Arial"/>
              </a:defRPr>
            </a:pPr>
            <a:r>
              <a:t>Analysis of the feasibility of the idea</a:t>
            </a:r>
          </a:p>
        </p:txBody>
      </p:sp>
      <p:sp>
        <p:nvSpPr>
          <p:cNvPr id="17411" name="TextBox 17410"/>
          <p:cNvSpPr txBox="1"/>
          <p:nvPr/>
        </p:nvSpPr>
        <p:spPr>
          <a:xfrm>
            <a:off x="594360" y="1792224"/>
            <a:ext cx="10972800" cy="914400"/>
          </a:xfrm>
          <a:prstGeom prst="rect">
            <a:avLst/>
          </a:prstGeom>
          <a:noFill/>
        </p:spPr>
        <p:txBody>
          <a:bodyPr wrap="square" lIns="27432" rIns="27432" tIns="18288" bIns="18288">
            <a:spAutoFit/>
          </a:bodyPr>
          <a:lstStyle/>
          <a:p>
            <a:pPr>
              <a:spcAft>
                <a:spcPts val="400"/>
              </a:spcAft>
              <a:defRPr sz="2100" b="0">
                <a:solidFill>
                  <a:srgbClr val="182333"/>
                </a:solidFill>
                <a:latin typeface="Arial"/>
              </a:defRPr>
            </a:pPr>
            <a:r>
              <a:t>Implemented: local frontend + backend, four input types, NER, graph traversal and evidence review.</a:t>
            </a:r>
          </a:p>
          <a:p>
            <a:pPr>
              <a:spcAft>
                <a:spcPts val="400"/>
              </a:spcAft>
              <a:defRPr sz="2100" b="0">
                <a:solidFill>
                  <a:srgbClr val="182333"/>
                </a:solidFill>
                <a:latin typeface="Arial"/>
              </a:defRPr>
            </a:pPr>
            <a:r>
              <a:t>Verification: 98 backend tests passed on 5 September 2026 (two dependency warnings).</a:t>
            </a:r>
          </a:p>
        </p:txBody>
      </p:sp>
      <p:sp>
        <p:nvSpPr>
          <p:cNvPr id="17412" name="TextBox 17411"/>
          <p:cNvSpPr txBox="1"/>
          <p:nvPr/>
        </p:nvSpPr>
        <p:spPr>
          <a:xfrm>
            <a:off x="594360" y="2862072"/>
            <a:ext cx="10972800" cy="365760"/>
          </a:xfrm>
          <a:prstGeom prst="rect">
            <a:avLst/>
          </a:prstGeom>
          <a:noFill/>
        </p:spPr>
        <p:txBody>
          <a:bodyPr wrap="square" lIns="27432" rIns="27432" tIns="18288" bIns="18288">
            <a:spAutoFit/>
          </a:bodyPr>
          <a:lstStyle/>
          <a:p>
            <a:pPr>
              <a:spcAft>
                <a:spcPts val="400"/>
              </a:spcAft>
              <a:defRPr sz="2000" b="1">
                <a:solidFill>
                  <a:srgbClr val="204F89"/>
                </a:solidFill>
                <a:latin typeface="Arial"/>
              </a:defRPr>
            </a:pPr>
            <a:r>
              <a:t>Potential challenges and risks</a:t>
            </a:r>
          </a:p>
        </p:txBody>
      </p:sp>
      <p:sp>
        <p:nvSpPr>
          <p:cNvPr id="17413" name="TextBox 17412"/>
          <p:cNvSpPr txBox="1"/>
          <p:nvPr/>
        </p:nvSpPr>
        <p:spPr>
          <a:xfrm>
            <a:off x="594360" y="3337560"/>
            <a:ext cx="10972800" cy="850392"/>
          </a:xfrm>
          <a:prstGeom prst="rect">
            <a:avLst/>
          </a:prstGeom>
          <a:noFill/>
        </p:spPr>
        <p:txBody>
          <a:bodyPr wrap="square" lIns="27432" rIns="27432" tIns="18288" bIns="18288">
            <a:spAutoFit/>
          </a:bodyPr>
          <a:lstStyle/>
          <a:p>
            <a:pPr>
              <a:spcAft>
                <a:spcPts val="400"/>
              </a:spcAft>
              <a:defRPr sz="2000" b="0">
                <a:solidFill>
                  <a:srgbClr val="182333"/>
                </a:solidFill>
                <a:latin typeface="Arial"/>
              </a:defRPr>
            </a:pPr>
            <a:r>
              <a:t>Synthetic case only; real-world accuracy and throughput remain unmeasured.</a:t>
            </a:r>
          </a:p>
          <a:p>
            <a:pPr>
              <a:spcAft>
                <a:spcPts val="400"/>
              </a:spcAft>
              <a:defRPr sz="2000" b="0">
                <a:solidFill>
                  <a:srgbClr val="182333"/>
                </a:solidFill>
                <a:latin typeface="Arial"/>
              </a:defRPr>
            </a:pPr>
            <a:r>
              <a:t>NER errors, ambiguous identities, incomplete records and small anomaly cohorts can mislead.</a:t>
            </a:r>
          </a:p>
        </p:txBody>
      </p:sp>
      <p:sp>
        <p:nvSpPr>
          <p:cNvPr id="17414" name="TextBox 17413"/>
          <p:cNvSpPr txBox="1"/>
          <p:nvPr/>
        </p:nvSpPr>
        <p:spPr>
          <a:xfrm>
            <a:off x="594360" y="4389120"/>
            <a:ext cx="10972800" cy="365760"/>
          </a:xfrm>
          <a:prstGeom prst="rect">
            <a:avLst/>
          </a:prstGeom>
          <a:noFill/>
        </p:spPr>
        <p:txBody>
          <a:bodyPr wrap="square" lIns="27432" rIns="27432" tIns="18288" bIns="18288">
            <a:spAutoFit/>
          </a:bodyPr>
          <a:lstStyle/>
          <a:p>
            <a:pPr>
              <a:spcAft>
                <a:spcPts val="400"/>
              </a:spcAft>
              <a:defRPr sz="2000" b="1">
                <a:solidFill>
                  <a:srgbClr val="204F89"/>
                </a:solidFill>
                <a:latin typeface="Arial"/>
              </a:defRPr>
            </a:pPr>
            <a:r>
              <a:t>Strategies for overcoming these challenges</a:t>
            </a:r>
          </a:p>
        </p:txBody>
      </p:sp>
      <p:sp>
        <p:nvSpPr>
          <p:cNvPr id="17415" name="TextBox 17414"/>
          <p:cNvSpPr txBox="1"/>
          <p:nvPr/>
        </p:nvSpPr>
        <p:spPr>
          <a:xfrm>
            <a:off x="594360" y="4846320"/>
            <a:ext cx="10972800" cy="1216152"/>
          </a:xfrm>
          <a:prstGeom prst="rect">
            <a:avLst/>
          </a:prstGeom>
          <a:noFill/>
        </p:spPr>
        <p:txBody>
          <a:bodyPr wrap="square" lIns="27432" rIns="27432" tIns="18288" bIns="18288">
            <a:spAutoFit/>
          </a:bodyPr>
          <a:lstStyle/>
          <a:p>
            <a:pPr>
              <a:spcAft>
                <a:spcPts val="400"/>
              </a:spcAft>
              <a:defRPr sz="1900" b="0">
                <a:solidFill>
                  <a:srgbClr val="182333"/>
                </a:solidFill>
                <a:latin typeface="Arial"/>
              </a:defRPr>
            </a:pPr>
            <a:r>
              <a:t>Current controls: source provenance, unverified extraction, reversible review and sample guards.</a:t>
            </a:r>
          </a:p>
          <a:p>
            <a:pPr>
              <a:spcAft>
                <a:spcPts val="400"/>
              </a:spcAft>
              <a:defRPr sz="1900" b="0">
                <a:solidFill>
                  <a:srgbClr val="182333"/>
                </a:solidFill>
                <a:latin typeface="Arial"/>
              </a:defRPr>
            </a:pPr>
            <a:r>
              <a:t>Production roadmap: agency validation, authenticated roles, encryption and protected audit storage.</a:t>
            </a:r>
          </a:p>
          <a:p>
            <a:pPr>
              <a:spcAft>
                <a:spcPts val="400"/>
              </a:spcAft>
              <a:defRPr sz="1900" b="0">
                <a:solidFill>
                  <a:srgbClr val="182333"/>
                </a:solidFill>
                <a:latin typeface="Arial"/>
              </a:defRPr>
            </a:pPr>
            <a:r>
              <a:t>Scale after profiling: asynchronous ingestion and indexed graph persistence.</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594360" y="1298448"/>
            <a:ext cx="10972800" cy="365760"/>
          </a:xfrm>
          <a:prstGeom prst="rect">
            <a:avLst/>
          </a:prstGeom>
          <a:noFill/>
        </p:spPr>
        <p:txBody>
          <a:bodyPr wrap="square" lIns="27432" rIns="27432" tIns="18288" bIns="18288">
            <a:spAutoFit/>
          </a:bodyPr>
          <a:lstStyle/>
          <a:p>
            <a:pPr>
              <a:spcAft>
                <a:spcPts val="400"/>
              </a:spcAft>
              <a:defRPr sz="2000" b="1">
                <a:solidFill>
                  <a:srgbClr val="204F89"/>
                </a:solidFill>
                <a:latin typeface="Arial"/>
              </a:defRPr>
            </a:pPr>
            <a:r>
              <a:t>Potential impact on the target audience</a:t>
            </a:r>
          </a:p>
        </p:txBody>
      </p:sp>
      <p:sp>
        <p:nvSpPr>
          <p:cNvPr id="17411" name="TextBox 17410"/>
          <p:cNvSpPr txBox="1"/>
          <p:nvPr/>
        </p:nvSpPr>
        <p:spPr>
          <a:xfrm>
            <a:off x="594360" y="1773936"/>
            <a:ext cx="10972800" cy="576072"/>
          </a:xfrm>
          <a:prstGeom prst="rect">
            <a:avLst/>
          </a:prstGeom>
          <a:noFill/>
        </p:spPr>
        <p:txBody>
          <a:bodyPr wrap="square" lIns="27432" rIns="27432" tIns="18288" bIns="18288">
            <a:spAutoFit/>
          </a:bodyPr>
          <a:lstStyle/>
          <a:p>
            <a:pPr>
              <a:spcAft>
                <a:spcPts val="400"/>
              </a:spcAft>
              <a:defRPr sz="2200" b="1">
                <a:solidFill>
                  <a:srgbClr val="182333"/>
                </a:solidFill>
                <a:latin typeface="Arial"/>
              </a:defRPr>
            </a:pPr>
            <a:r>
              <a:t>Investigators can connect scattered records and inspect why a lead deserves review.</a:t>
            </a:r>
          </a:p>
        </p:txBody>
      </p:sp>
      <p:sp>
        <p:nvSpPr>
          <p:cNvPr id="17412" name="TextBox 17411"/>
          <p:cNvSpPr txBox="1"/>
          <p:nvPr/>
        </p:nvSpPr>
        <p:spPr>
          <a:xfrm>
            <a:off x="594360" y="2624328"/>
            <a:ext cx="4800600" cy="411480"/>
          </a:xfrm>
          <a:prstGeom prst="rect">
            <a:avLst/>
          </a:prstGeom>
          <a:noFill/>
        </p:spPr>
        <p:txBody>
          <a:bodyPr wrap="square" lIns="27432" rIns="27432" tIns="18288" bIns="18288">
            <a:spAutoFit/>
          </a:bodyPr>
          <a:lstStyle/>
          <a:p>
            <a:pPr>
              <a:spcAft>
                <a:spcPts val="400"/>
              </a:spcAft>
              <a:defRPr sz="2000" b="1">
                <a:solidFill>
                  <a:srgbClr val="204F89"/>
                </a:solidFill>
                <a:latin typeface="Arial"/>
              </a:defRPr>
            </a:pPr>
            <a:r>
              <a:t>Benefits of the solution</a:t>
            </a:r>
          </a:p>
        </p:txBody>
      </p:sp>
      <p:sp>
        <p:nvSpPr>
          <p:cNvPr id="17413" name="TextBox 17412"/>
          <p:cNvSpPr txBox="1"/>
          <p:nvPr/>
        </p:nvSpPr>
        <p:spPr>
          <a:xfrm>
            <a:off x="594360" y="3127248"/>
            <a:ext cx="4663440" cy="1188720"/>
          </a:xfrm>
          <a:prstGeom prst="rect">
            <a:avLst/>
          </a:prstGeom>
          <a:noFill/>
        </p:spPr>
        <p:txBody>
          <a:bodyPr wrap="square" lIns="27432" rIns="27432" tIns="18288" bIns="18288">
            <a:spAutoFit/>
          </a:bodyPr>
          <a:lstStyle/>
          <a:p>
            <a:pPr>
              <a:spcAft>
                <a:spcPts val="400"/>
              </a:spcAft>
              <a:defRPr sz="2000" b="0">
                <a:solidFill>
                  <a:srgbClr val="182333"/>
                </a:solidFill>
                <a:latin typeface="Arial"/>
              </a:defRPr>
            </a:pPr>
            <a:r>
              <a:t>Less repeated cross-referencing.</a:t>
            </a:r>
          </a:p>
          <a:p>
            <a:pPr>
              <a:spcAft>
                <a:spcPts val="400"/>
              </a:spcAft>
              <a:defRPr sz="2000" b="0">
                <a:solidFill>
                  <a:srgbClr val="182333"/>
                </a:solidFill>
                <a:latin typeface="Arial"/>
              </a:defRPr>
            </a:pPr>
            <a:r>
              <a:t>Source-linked explanations.</a:t>
            </a:r>
          </a:p>
          <a:p>
            <a:pPr>
              <a:spcAft>
                <a:spcPts val="400"/>
              </a:spcAft>
              <a:defRPr sz="2000" b="0">
                <a:solidFill>
                  <a:srgbClr val="182333"/>
                </a:solidFill>
                <a:latin typeface="Arial"/>
              </a:defRPr>
            </a:pPr>
            <a:r>
              <a:t>Reviewable human decisions.</a:t>
            </a:r>
          </a:p>
        </p:txBody>
      </p:sp>
      <p:sp>
        <p:nvSpPr>
          <p:cNvPr id="17414" name="TextBox 17413"/>
          <p:cNvSpPr txBox="1"/>
          <p:nvPr/>
        </p:nvSpPr>
        <p:spPr>
          <a:xfrm>
            <a:off x="594360" y="4507992"/>
            <a:ext cx="4754880" cy="365760"/>
          </a:xfrm>
          <a:prstGeom prst="rect">
            <a:avLst/>
          </a:prstGeom>
          <a:noFill/>
        </p:spPr>
        <p:txBody>
          <a:bodyPr wrap="square" lIns="27432" rIns="27432" tIns="18288" bIns="18288">
            <a:spAutoFit/>
          </a:bodyPr>
          <a:lstStyle/>
          <a:p>
            <a:pPr>
              <a:spcAft>
                <a:spcPts val="400"/>
              </a:spcAft>
              <a:defRPr sz="1900" b="1">
                <a:solidFill>
                  <a:srgbClr val="204F89"/>
                </a:solidFill>
                <a:latin typeface="Arial"/>
              </a:defRPr>
            </a:pPr>
            <a:r>
              <a:t>Synthetic demonstration</a:t>
            </a:r>
          </a:p>
        </p:txBody>
      </p:sp>
      <p:sp>
        <p:nvSpPr>
          <p:cNvPr id="17415" name="TextBox 17414"/>
          <p:cNvSpPr txBox="1"/>
          <p:nvPr/>
        </p:nvSpPr>
        <p:spPr>
          <a:xfrm>
            <a:off x="594360" y="4937760"/>
            <a:ext cx="4709160" cy="1078992"/>
          </a:xfrm>
          <a:prstGeom prst="rect">
            <a:avLst/>
          </a:prstGeom>
          <a:noFill/>
        </p:spPr>
        <p:txBody>
          <a:bodyPr wrap="square" lIns="27432" rIns="27432" tIns="18288" bIns="18288">
            <a:spAutoFit/>
          </a:bodyPr>
          <a:lstStyle/>
          <a:p>
            <a:pPr>
              <a:spcAft>
                <a:spcPts val="400"/>
              </a:spcAft>
              <a:defRPr sz="1900" b="0">
                <a:solidFill>
                  <a:srgbClr val="182333"/>
                </a:solidFill>
                <a:latin typeface="Arial"/>
              </a:defRPr>
            </a:pPr>
            <a:r>
              <a:t>11 calls vs a 2/day baseline; 3 connected transfers over 75 minutes; a 6-hop path.</a:t>
            </a:r>
          </a:p>
          <a:p>
            <a:pPr>
              <a:spcAft>
                <a:spcPts val="400"/>
              </a:spcAft>
              <a:defRPr sz="1900" b="0">
                <a:solidFill>
                  <a:srgbClr val="182333"/>
                </a:solidFill>
                <a:latin typeface="Arial"/>
              </a:defRPr>
            </a:pPr>
            <a:r>
              <a:t>Together, these create a review-priority lead.</a:t>
            </a:r>
          </a:p>
        </p:txBody>
      </p:sp>
      <p:pic>
        <p:nvPicPr>
          <p:cNvPr id="17416" name="Picture 17415" descr="04-lead-explanation.png"/>
          <p:cNvPicPr>
            <a:picLocks noChangeAspect="1"/>
          </p:cNvPicPr>
          <p:nvPr/>
        </p:nvPicPr>
        <p:blipFill>
          <a:blip r:embed="rId4"/>
          <a:stretch>
            <a:fillRect/>
          </a:stretch>
        </p:blipFill>
        <p:spPr>
          <a:xfrm>
            <a:off x="5532120" y="2596896"/>
            <a:ext cx="6035040" cy="3393053"/>
          </a:xfrm>
          <a:prstGeom prst="rect">
            <a:avLst/>
          </a:prstGeom>
        </p:spPr>
      </p:pic>
      <p:sp>
        <p:nvSpPr>
          <p:cNvPr id="17417" name="TextBox 17416"/>
          <p:cNvSpPr txBox="1"/>
          <p:nvPr/>
        </p:nvSpPr>
        <p:spPr>
          <a:xfrm>
            <a:off x="5532120" y="6025896"/>
            <a:ext cx="6035040" cy="228600"/>
          </a:xfrm>
          <a:prstGeom prst="rect">
            <a:avLst/>
          </a:prstGeom>
          <a:noFill/>
        </p:spPr>
        <p:txBody>
          <a:bodyPr wrap="square" lIns="27432" rIns="27432" tIns="18288" bIns="18288">
            <a:spAutoFit/>
          </a:bodyPr>
          <a:lstStyle/>
          <a:p>
            <a:pPr>
              <a:spcAft>
                <a:spcPts val="400"/>
              </a:spcAft>
              <a:defRPr sz="1200" b="0">
                <a:solidFill>
                  <a:srgbClr val="182333"/>
                </a:solidFill>
                <a:latin typeface="Arial"/>
              </a:defRPr>
            </a:pPr>
            <a:r>
              <a:t>Expected benefits; no measured time savings or crime-detection claim.</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594360" y="1307592"/>
            <a:ext cx="10972800" cy="365760"/>
          </a:xfrm>
          <a:prstGeom prst="rect">
            <a:avLst/>
          </a:prstGeom>
          <a:noFill/>
        </p:spPr>
        <p:txBody>
          <a:bodyPr wrap="square" lIns="27432" rIns="27432" tIns="18288" bIns="18288">
            <a:spAutoFit/>
          </a:bodyPr>
          <a:lstStyle/>
          <a:p>
            <a:pPr>
              <a:spcAft>
                <a:spcPts val="400"/>
              </a:spcAft>
              <a:defRPr sz="2000" b="1">
                <a:solidFill>
                  <a:srgbClr val="204F89"/>
                </a:solidFill>
                <a:latin typeface="Arial"/>
              </a:defRPr>
            </a:pPr>
            <a:r>
              <a:t>Details / Links of the reference and research work</a:t>
            </a:r>
          </a:p>
        </p:txBody>
      </p:sp>
      <p:sp>
        <p:nvSpPr>
          <p:cNvPr id="17411" name="TextBox 17410"/>
          <p:cNvSpPr txBox="1"/>
          <p:nvPr/>
        </p:nvSpPr>
        <p:spPr>
          <a:xfrm>
            <a:off x="594360" y="1883664"/>
            <a:ext cx="10972800" cy="320040"/>
          </a:xfrm>
          <a:prstGeom prst="rect">
            <a:avLst/>
          </a:prstGeom>
          <a:noFill/>
        </p:spPr>
        <p:txBody>
          <a:bodyPr wrap="square" lIns="27432" rIns="27432" tIns="18288" bIns="18288">
            <a:spAutoFit/>
          </a:bodyPr>
          <a:lstStyle/>
          <a:p>
            <a:pPr>
              <a:spcAft>
                <a:spcPts val="400"/>
              </a:spcAft>
              <a:defRPr sz="2000" b="1">
                <a:solidFill>
                  <a:srgbClr val="204F89"/>
                </a:solidFill>
                <a:latin typeface="Arial"/>
              </a:defRPr>
            </a:pPr>
            <a:r>
              <a:rPr>
                <a:hlinkClick r:id="rId4"/>
              </a:rPr>
              <a:t>spaCy English pipeline</a:t>
            </a:r>
          </a:p>
        </p:txBody>
      </p:sp>
      <p:sp>
        <p:nvSpPr>
          <p:cNvPr id="17412" name="TextBox 17411"/>
          <p:cNvSpPr txBox="1"/>
          <p:nvPr/>
        </p:nvSpPr>
        <p:spPr>
          <a:xfrm>
            <a:off x="594360" y="2231136"/>
            <a:ext cx="10972800" cy="274320"/>
          </a:xfrm>
          <a:prstGeom prst="rect">
            <a:avLst/>
          </a:prstGeom>
          <a:noFill/>
        </p:spPr>
        <p:txBody>
          <a:bodyPr wrap="square" lIns="27432" rIns="27432" tIns="18288" bIns="18288">
            <a:spAutoFit/>
          </a:bodyPr>
          <a:lstStyle/>
          <a:p>
            <a:pPr>
              <a:spcAft>
                <a:spcPts val="400"/>
              </a:spcAft>
              <a:defRPr sz="1700" b="0">
                <a:solidFill>
                  <a:srgbClr val="182333"/>
                </a:solidFill>
                <a:latin typeface="Arial"/>
              </a:defRPr>
            </a:pPr>
            <a:r>
              <a:t>Local named-entity extraction; en_core_web_sm</a:t>
            </a:r>
          </a:p>
        </p:txBody>
      </p:sp>
      <p:sp>
        <p:nvSpPr>
          <p:cNvPr id="17413" name="TextBox 17412"/>
          <p:cNvSpPr txBox="1"/>
          <p:nvPr/>
        </p:nvSpPr>
        <p:spPr>
          <a:xfrm>
            <a:off x="594360" y="2523744"/>
            <a:ext cx="10972800" cy="237744"/>
          </a:xfrm>
          <a:prstGeom prst="rect">
            <a:avLst/>
          </a:prstGeom>
          <a:noFill/>
        </p:spPr>
        <p:txBody>
          <a:bodyPr wrap="square" lIns="27432" rIns="27432" tIns="18288" bIns="18288">
            <a:spAutoFit/>
          </a:bodyPr>
          <a:lstStyle/>
          <a:p>
            <a:pPr>
              <a:spcAft>
                <a:spcPts val="400"/>
              </a:spcAft>
              <a:defRPr sz="1200" b="0">
                <a:solidFill>
                  <a:srgbClr val="182333"/>
                </a:solidFill>
                <a:latin typeface="Arial"/>
              </a:defRPr>
            </a:pPr>
            <a:r>
              <a:rPr>
                <a:hlinkClick r:id="rId4"/>
              </a:rPr>
              <a:t>https://spacy.io/models/en#en_core_web_sm</a:t>
            </a:r>
          </a:p>
        </p:txBody>
      </p:sp>
      <p:sp>
        <p:nvSpPr>
          <p:cNvPr id="17414" name="TextBox 17413"/>
          <p:cNvSpPr txBox="1"/>
          <p:nvPr/>
        </p:nvSpPr>
        <p:spPr>
          <a:xfrm>
            <a:off x="594360" y="2843784"/>
            <a:ext cx="10972800" cy="320040"/>
          </a:xfrm>
          <a:prstGeom prst="rect">
            <a:avLst/>
          </a:prstGeom>
          <a:noFill/>
        </p:spPr>
        <p:txBody>
          <a:bodyPr wrap="square" lIns="27432" rIns="27432" tIns="18288" bIns="18288">
            <a:spAutoFit/>
          </a:bodyPr>
          <a:lstStyle/>
          <a:p>
            <a:pPr>
              <a:spcAft>
                <a:spcPts val="400"/>
              </a:spcAft>
              <a:defRPr sz="2000" b="1">
                <a:solidFill>
                  <a:srgbClr val="204F89"/>
                </a:solidFill>
                <a:latin typeface="Arial"/>
              </a:defRPr>
            </a:pPr>
            <a:r>
              <a:rPr>
                <a:hlinkClick r:id="rId5"/>
              </a:rPr>
              <a:t>NetworkX shortest paths</a:t>
            </a:r>
          </a:p>
        </p:txBody>
      </p:sp>
      <p:sp>
        <p:nvSpPr>
          <p:cNvPr id="17415" name="TextBox 17414"/>
          <p:cNvSpPr txBox="1"/>
          <p:nvPr/>
        </p:nvSpPr>
        <p:spPr>
          <a:xfrm>
            <a:off x="594360" y="3191256"/>
            <a:ext cx="10972800" cy="274320"/>
          </a:xfrm>
          <a:prstGeom prst="rect">
            <a:avLst/>
          </a:prstGeom>
          <a:noFill/>
        </p:spPr>
        <p:txBody>
          <a:bodyPr wrap="square" lIns="27432" rIns="27432" tIns="18288" bIns="18288">
            <a:spAutoFit/>
          </a:bodyPr>
          <a:lstStyle/>
          <a:p>
            <a:pPr>
              <a:spcAft>
                <a:spcPts val="400"/>
              </a:spcAft>
              <a:defRPr sz="1700" b="0">
                <a:solidFill>
                  <a:srgbClr val="182333"/>
                </a:solidFill>
                <a:latin typeface="Arial"/>
              </a:defRPr>
            </a:pPr>
            <a:r>
              <a:t>Graph traversal methods used by the prototype</a:t>
            </a:r>
          </a:p>
        </p:txBody>
      </p:sp>
      <p:sp>
        <p:nvSpPr>
          <p:cNvPr id="17416" name="TextBox 17415"/>
          <p:cNvSpPr txBox="1"/>
          <p:nvPr/>
        </p:nvSpPr>
        <p:spPr>
          <a:xfrm>
            <a:off x="594360" y="3483864"/>
            <a:ext cx="10972800" cy="237744"/>
          </a:xfrm>
          <a:prstGeom prst="rect">
            <a:avLst/>
          </a:prstGeom>
          <a:noFill/>
        </p:spPr>
        <p:txBody>
          <a:bodyPr wrap="square" lIns="27432" rIns="27432" tIns="18288" bIns="18288">
            <a:spAutoFit/>
          </a:bodyPr>
          <a:lstStyle/>
          <a:p>
            <a:pPr>
              <a:spcAft>
                <a:spcPts val="400"/>
              </a:spcAft>
              <a:defRPr sz="1200" b="0">
                <a:solidFill>
                  <a:srgbClr val="182333"/>
                </a:solidFill>
                <a:latin typeface="Arial"/>
              </a:defRPr>
            </a:pPr>
            <a:r>
              <a:rPr>
                <a:hlinkClick r:id="rId5"/>
              </a:rPr>
              <a:t>https://networkx.org/documentation/stable/reference/algorithms/shortest_paths.html</a:t>
            </a:r>
          </a:p>
        </p:txBody>
      </p:sp>
      <p:sp>
        <p:nvSpPr>
          <p:cNvPr id="17417" name="TextBox 17416"/>
          <p:cNvSpPr txBox="1"/>
          <p:nvPr/>
        </p:nvSpPr>
        <p:spPr>
          <a:xfrm>
            <a:off x="594360" y="3803904"/>
            <a:ext cx="10972800" cy="320040"/>
          </a:xfrm>
          <a:prstGeom prst="rect">
            <a:avLst/>
          </a:prstGeom>
          <a:noFill/>
        </p:spPr>
        <p:txBody>
          <a:bodyPr wrap="square" lIns="27432" rIns="27432" tIns="18288" bIns="18288">
            <a:spAutoFit/>
          </a:bodyPr>
          <a:lstStyle/>
          <a:p>
            <a:pPr>
              <a:spcAft>
                <a:spcPts val="400"/>
              </a:spcAft>
              <a:defRPr sz="2000" b="1">
                <a:solidFill>
                  <a:srgbClr val="204F89"/>
                </a:solidFill>
                <a:latin typeface="Arial"/>
              </a:defRPr>
            </a:pPr>
            <a:r>
              <a:rPr>
                <a:hlinkClick r:id="rId6"/>
              </a:rPr>
              <a:t>scikit-learn Isolation Forest</a:t>
            </a:r>
          </a:p>
        </p:txBody>
      </p:sp>
      <p:sp>
        <p:nvSpPr>
          <p:cNvPr id="17418" name="TextBox 17417"/>
          <p:cNvSpPr txBox="1"/>
          <p:nvPr/>
        </p:nvSpPr>
        <p:spPr>
          <a:xfrm>
            <a:off x="594360" y="4151376"/>
            <a:ext cx="10972800" cy="274320"/>
          </a:xfrm>
          <a:prstGeom prst="rect">
            <a:avLst/>
          </a:prstGeom>
          <a:noFill/>
        </p:spPr>
        <p:txBody>
          <a:bodyPr wrap="square" lIns="27432" rIns="27432" tIns="18288" bIns="18288">
            <a:spAutoFit/>
          </a:bodyPr>
          <a:lstStyle/>
          <a:p>
            <a:pPr>
              <a:spcAft>
                <a:spcPts val="400"/>
              </a:spcAft>
              <a:defRPr sz="1700" b="0">
                <a:solidFill>
                  <a:srgbClr val="182333"/>
                </a:solidFill>
                <a:latin typeface="Arial"/>
              </a:defRPr>
            </a:pPr>
            <a:r>
              <a:t>Unsupervised anomaly detection for secondary triage</a:t>
            </a:r>
          </a:p>
        </p:txBody>
      </p:sp>
      <p:sp>
        <p:nvSpPr>
          <p:cNvPr id="17419" name="TextBox 17418"/>
          <p:cNvSpPr txBox="1"/>
          <p:nvPr/>
        </p:nvSpPr>
        <p:spPr>
          <a:xfrm>
            <a:off x="594360" y="4443984"/>
            <a:ext cx="10972800" cy="237744"/>
          </a:xfrm>
          <a:prstGeom prst="rect">
            <a:avLst/>
          </a:prstGeom>
          <a:noFill/>
        </p:spPr>
        <p:txBody>
          <a:bodyPr wrap="square" lIns="27432" rIns="27432" tIns="18288" bIns="18288">
            <a:spAutoFit/>
          </a:bodyPr>
          <a:lstStyle/>
          <a:p>
            <a:pPr>
              <a:spcAft>
                <a:spcPts val="400"/>
              </a:spcAft>
              <a:defRPr sz="1200" b="0">
                <a:solidFill>
                  <a:srgbClr val="182333"/>
                </a:solidFill>
                <a:latin typeface="Arial"/>
              </a:defRPr>
            </a:pPr>
            <a:r>
              <a:rPr>
                <a:hlinkClick r:id="rId6"/>
              </a:rPr>
              <a:t>https://scikit-learn.org/stable/modules/generated/sklearn.ensemble.IsolationForest.html</a:t>
            </a:r>
          </a:p>
        </p:txBody>
      </p:sp>
      <p:sp>
        <p:nvSpPr>
          <p:cNvPr id="17420" name="TextBox 17419"/>
          <p:cNvSpPr txBox="1"/>
          <p:nvPr/>
        </p:nvSpPr>
        <p:spPr>
          <a:xfrm>
            <a:off x="594360" y="4937760"/>
            <a:ext cx="10972800" cy="365760"/>
          </a:xfrm>
          <a:prstGeom prst="rect">
            <a:avLst/>
          </a:prstGeom>
          <a:noFill/>
        </p:spPr>
        <p:txBody>
          <a:bodyPr wrap="square" lIns="27432" rIns="27432" tIns="18288" bIns="18288">
            <a:spAutoFit/>
          </a:bodyPr>
          <a:lstStyle/>
          <a:p>
            <a:pPr>
              <a:spcAft>
                <a:spcPts val="400"/>
              </a:spcAft>
              <a:defRPr sz="2000" b="1">
                <a:solidFill>
                  <a:srgbClr val="204F89"/>
                </a:solidFill>
                <a:latin typeface="Arial"/>
              </a:defRPr>
            </a:pPr>
            <a:r>
              <a:t>Project evidence and validation</a:t>
            </a:r>
          </a:p>
        </p:txBody>
      </p:sp>
      <p:sp>
        <p:nvSpPr>
          <p:cNvPr id="17421" name="TextBox 17420"/>
          <p:cNvSpPr txBox="1"/>
          <p:nvPr/>
        </p:nvSpPr>
        <p:spPr>
          <a:xfrm>
            <a:off x="594360" y="5385816"/>
            <a:ext cx="10972800" cy="822960"/>
          </a:xfrm>
          <a:prstGeom prst="rect">
            <a:avLst/>
          </a:prstGeom>
          <a:noFill/>
        </p:spPr>
        <p:txBody>
          <a:bodyPr wrap="square" lIns="27432" rIns="27432" tIns="18288" bIns="18288">
            <a:spAutoFit/>
          </a:bodyPr>
          <a:lstStyle/>
          <a:p>
            <a:pPr>
              <a:spcAft>
                <a:spcPts val="400"/>
              </a:spcAft>
              <a:defRPr sz="1600" b="0">
                <a:solidFill>
                  <a:srgbClr val="182333"/>
                </a:solidFill>
                <a:latin typeface="Arial"/>
              </a:defRPr>
            </a:pPr>
            <a:r>
              <a:t>Source: backend/ner_service.py, behavioral_profiler.py, demo_paths.py and lead_engine.py.</a:t>
            </a:r>
          </a:p>
          <a:p>
            <a:pPr>
              <a:spcAft>
                <a:spcPts val="400"/>
              </a:spcAft>
              <a:defRPr sz="1600" b="0">
                <a:solidFill>
                  <a:srgbClr val="182333"/>
                </a:solidFill>
                <a:latin typeface="Arial"/>
              </a:defRPr>
            </a:pPr>
            <a:r>
              <a:t>Evidence: tests/ (98 passed), artifacts/first-round/api/ and actual prototype screenshots.</a:t>
            </a:r>
          </a:p>
          <a:p>
            <a:pPr>
              <a:spcAft>
                <a:spcPts val="400"/>
              </a:spcAft>
              <a:defRPr sz="1600" b="0">
                <a:solidFill>
                  <a:srgbClr val="182333"/>
                </a:solidFill>
                <a:latin typeface="Arial"/>
              </a:defRPr>
            </a:pPr>
            <a:r>
              <a:t>Evaluation boundary: synthetic data; operational accuracy requires agency validation.</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